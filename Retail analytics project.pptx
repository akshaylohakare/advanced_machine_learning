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EB Garamond" panose="000005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Qm5Zh06ONHKhJILl1hB7V4v1N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 name="Google Shape;18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5" name="Google Shape;20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7" name="Google Shape;21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1" name="Google Shape;23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0" name="Google Shape;24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4" name="Google Shape;264;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2" name="Google Shape;272;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0" name="Google Shape;280;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9" name="Google Shape;289;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8" name="Google Shape;298;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7" name="Google Shape;30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3" name="Google Shape;31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5" name="Google Shape;325;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3" name="Google Shape;333;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1" name="Google Shape;341;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8" name="Google Shape;348;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5" name="Google Shape;35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2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1920"/>
              <a:buNone/>
              <a:defRPr sz="2400"/>
            </a:lvl1pPr>
            <a:lvl2pPr lvl="1" algn="ctr">
              <a:lnSpc>
                <a:spcPct val="110000"/>
              </a:lnSpc>
              <a:spcBef>
                <a:spcPts val="500"/>
              </a:spcBef>
              <a:spcAft>
                <a:spcPts val="0"/>
              </a:spcAft>
              <a:buSzPts val="1600"/>
              <a:buNone/>
              <a:defRPr sz="2000"/>
            </a:lvl2pPr>
            <a:lvl3pPr lvl="2" algn="ctr">
              <a:lnSpc>
                <a:spcPct val="110000"/>
              </a:lnSpc>
              <a:spcBef>
                <a:spcPts val="500"/>
              </a:spcBef>
              <a:spcAft>
                <a:spcPts val="0"/>
              </a:spcAft>
              <a:buSzPts val="1440"/>
              <a:buNone/>
              <a:defRPr sz="1800"/>
            </a:lvl3pPr>
            <a:lvl4pPr lvl="3" algn="ctr">
              <a:lnSpc>
                <a:spcPct val="110000"/>
              </a:lnSpc>
              <a:spcBef>
                <a:spcPts val="500"/>
              </a:spcBef>
              <a:spcAft>
                <a:spcPts val="0"/>
              </a:spcAft>
              <a:buSzPts val="1280"/>
              <a:buNone/>
              <a:defRPr sz="1600"/>
            </a:lvl4pPr>
            <a:lvl5pPr lvl="4" algn="ctr">
              <a:lnSpc>
                <a:spcPct val="110000"/>
              </a:lnSpc>
              <a:spcBef>
                <a:spcPts val="500"/>
              </a:spcBef>
              <a:spcAft>
                <a:spcPts val="0"/>
              </a:spcAft>
              <a:buSzPts val="128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29"/>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9"/>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9"/>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0"/>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0"/>
          <p:cNvSpPr txBox="1">
            <a:spLocks noGrp="1"/>
          </p:cNvSpPr>
          <p:nvPr>
            <p:ph type="body" idx="1"/>
          </p:nvPr>
        </p:nvSpPr>
        <p:spPr>
          <a:xfrm>
            <a:off x="838200" y="2178657"/>
            <a:ext cx="10515600" cy="3998306"/>
          </a:xfrm>
          <a:prstGeom prst="rect">
            <a:avLst/>
          </a:prstGeom>
          <a:noFill/>
          <a:ln>
            <a:noFill/>
          </a:ln>
        </p:spPr>
        <p:txBody>
          <a:bodyPr spcFirstLastPara="1" wrap="square" lIns="91425" tIns="45700" rIns="91425" bIns="45700" anchor="t" anchorCtr="0">
            <a:normAutofit/>
          </a:bodyPr>
          <a:lstStyle>
            <a:lvl1pPr marL="457200" lvl="0" indent="-370840" algn="l">
              <a:lnSpc>
                <a:spcPct val="110000"/>
              </a:lnSpc>
              <a:spcBef>
                <a:spcPts val="1000"/>
              </a:spcBef>
              <a:spcAft>
                <a:spcPts val="0"/>
              </a:spcAft>
              <a:buSzPts val="2240"/>
              <a:buFont typeface="Noto Sans Symbols"/>
              <a:buChar char="▪"/>
              <a:defRPr/>
            </a:lvl1pPr>
            <a:lvl2pPr marL="914400" lvl="1" indent="-350520" algn="l">
              <a:lnSpc>
                <a:spcPct val="110000"/>
              </a:lnSpc>
              <a:spcBef>
                <a:spcPts val="500"/>
              </a:spcBef>
              <a:spcAft>
                <a:spcPts val="0"/>
              </a:spcAft>
              <a:buSzPts val="1920"/>
              <a:buFont typeface="Noto Sans Symbols"/>
              <a:buChar char="▪"/>
              <a:defRPr/>
            </a:lvl2pPr>
            <a:lvl3pPr marL="1371600" lvl="2" indent="-330200" algn="l">
              <a:lnSpc>
                <a:spcPct val="110000"/>
              </a:lnSpc>
              <a:spcBef>
                <a:spcPts val="500"/>
              </a:spcBef>
              <a:spcAft>
                <a:spcPts val="0"/>
              </a:spcAft>
              <a:buSzPts val="1600"/>
              <a:buFont typeface="Noto Sans Symbols"/>
              <a:buChar char="▪"/>
              <a:defRPr/>
            </a:lvl3pPr>
            <a:lvl4pPr marL="1828800" lvl="3" indent="-320040" algn="l">
              <a:lnSpc>
                <a:spcPct val="110000"/>
              </a:lnSpc>
              <a:spcBef>
                <a:spcPts val="500"/>
              </a:spcBef>
              <a:spcAft>
                <a:spcPts val="0"/>
              </a:spcAft>
              <a:buSzPts val="1440"/>
              <a:buFont typeface="Noto Sans Symbols"/>
              <a:buChar char="▪"/>
              <a:defRPr/>
            </a:lvl4pPr>
            <a:lvl5pPr marL="2286000" lvl="4" indent="-320040" algn="l">
              <a:lnSpc>
                <a:spcPct val="110000"/>
              </a:lnSpc>
              <a:spcBef>
                <a:spcPts val="500"/>
              </a:spcBef>
              <a:spcAft>
                <a:spcPts val="0"/>
              </a:spcAft>
              <a:buSzPts val="1440"/>
              <a:buFont typeface="Noto Sans Symbols"/>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0"/>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0"/>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0"/>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31"/>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1"/>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1"/>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3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5400"/>
              <a:buFont typeface="EB 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920"/>
              <a:buNone/>
              <a:defRPr sz="2400">
                <a:solidFill>
                  <a:srgbClr val="888888"/>
                </a:solidFill>
              </a:defRPr>
            </a:lvl1pPr>
            <a:lvl2pPr marL="914400" lvl="1" indent="-228600" algn="l">
              <a:lnSpc>
                <a:spcPct val="110000"/>
              </a:lnSpc>
              <a:spcBef>
                <a:spcPts val="500"/>
              </a:spcBef>
              <a:spcAft>
                <a:spcPts val="0"/>
              </a:spcAft>
              <a:buSzPts val="1600"/>
              <a:buNone/>
              <a:defRPr sz="2000">
                <a:solidFill>
                  <a:srgbClr val="888888"/>
                </a:solidFill>
              </a:defRPr>
            </a:lvl2pPr>
            <a:lvl3pPr marL="1371600" lvl="2" indent="-228600" algn="l">
              <a:lnSpc>
                <a:spcPct val="110000"/>
              </a:lnSpc>
              <a:spcBef>
                <a:spcPts val="500"/>
              </a:spcBef>
              <a:spcAft>
                <a:spcPts val="0"/>
              </a:spcAft>
              <a:buSzPts val="1440"/>
              <a:buNone/>
              <a:defRPr sz="1800">
                <a:solidFill>
                  <a:srgbClr val="888888"/>
                </a:solidFill>
              </a:defRPr>
            </a:lvl3pPr>
            <a:lvl4pPr marL="1828800" lvl="3" indent="-228600" algn="l">
              <a:lnSpc>
                <a:spcPct val="110000"/>
              </a:lnSpc>
              <a:spcBef>
                <a:spcPts val="500"/>
              </a:spcBef>
              <a:spcAft>
                <a:spcPts val="0"/>
              </a:spcAft>
              <a:buSzPts val="1280"/>
              <a:buNone/>
              <a:defRPr sz="1600">
                <a:solidFill>
                  <a:srgbClr val="888888"/>
                </a:solidFill>
              </a:defRPr>
            </a:lvl4pPr>
            <a:lvl5pPr marL="2286000" lvl="4" indent="-228600" algn="l">
              <a:lnSpc>
                <a:spcPct val="110000"/>
              </a:lnSpc>
              <a:spcBef>
                <a:spcPts val="500"/>
              </a:spcBef>
              <a:spcAft>
                <a:spcPts val="0"/>
              </a:spcAft>
              <a:buSzPts val="128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32"/>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2"/>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2"/>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33"/>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4800"/>
              <a:buFont typeface="EB Garamond"/>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3"/>
          <p:cNvSpPr txBox="1">
            <a:spLocks noGrp="1"/>
          </p:cNvSpPr>
          <p:nvPr>
            <p:ph type="body" idx="1"/>
          </p:nvPr>
        </p:nvSpPr>
        <p:spPr>
          <a:xfrm>
            <a:off x="838200" y="2057399"/>
            <a:ext cx="5181600" cy="41195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33"/>
          <p:cNvSpPr txBox="1">
            <a:spLocks noGrp="1"/>
          </p:cNvSpPr>
          <p:nvPr>
            <p:ph type="body" idx="2"/>
          </p:nvPr>
        </p:nvSpPr>
        <p:spPr>
          <a:xfrm>
            <a:off x="6172200" y="2057399"/>
            <a:ext cx="5181600" cy="41195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3"/>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3"/>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839788" y="668338"/>
            <a:ext cx="10515600" cy="108426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4"/>
          <p:cNvSpPr txBox="1">
            <a:spLocks noGrp="1"/>
          </p:cNvSpPr>
          <p:nvPr>
            <p:ph type="body" idx="1"/>
          </p:nvPr>
        </p:nvSpPr>
        <p:spPr>
          <a:xfrm>
            <a:off x="839788" y="18288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1920"/>
              <a:buNone/>
              <a:defRPr sz="2400" b="0"/>
            </a:lvl1pPr>
            <a:lvl2pPr marL="914400" lvl="1" indent="-228600" algn="l">
              <a:lnSpc>
                <a:spcPct val="110000"/>
              </a:lnSpc>
              <a:spcBef>
                <a:spcPts val="500"/>
              </a:spcBef>
              <a:spcAft>
                <a:spcPts val="0"/>
              </a:spcAft>
              <a:buSzPts val="1600"/>
              <a:buNone/>
              <a:defRPr sz="2000" b="1"/>
            </a:lvl2pPr>
            <a:lvl3pPr marL="1371600" lvl="2" indent="-228600" algn="l">
              <a:lnSpc>
                <a:spcPct val="110000"/>
              </a:lnSpc>
              <a:spcBef>
                <a:spcPts val="500"/>
              </a:spcBef>
              <a:spcAft>
                <a:spcPts val="0"/>
              </a:spcAft>
              <a:buSzPts val="1440"/>
              <a:buNone/>
              <a:defRPr sz="1800" b="1"/>
            </a:lvl3pPr>
            <a:lvl4pPr marL="1828800" lvl="3" indent="-228600" algn="l">
              <a:lnSpc>
                <a:spcPct val="110000"/>
              </a:lnSpc>
              <a:spcBef>
                <a:spcPts val="500"/>
              </a:spcBef>
              <a:spcAft>
                <a:spcPts val="0"/>
              </a:spcAft>
              <a:buSzPts val="1280"/>
              <a:buNone/>
              <a:defRPr sz="1600" b="1"/>
            </a:lvl4pPr>
            <a:lvl5pPr marL="2286000" lvl="4" indent="-228600" algn="l">
              <a:lnSpc>
                <a:spcPct val="110000"/>
              </a:lnSpc>
              <a:spcBef>
                <a:spcPts val="500"/>
              </a:spcBef>
              <a:spcAft>
                <a:spcPts val="0"/>
              </a:spcAft>
              <a:buSzPts val="128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34"/>
          <p:cNvSpPr txBox="1">
            <a:spLocks noGrp="1"/>
          </p:cNvSpPr>
          <p:nvPr>
            <p:ph type="body" idx="2"/>
          </p:nvPr>
        </p:nvSpPr>
        <p:spPr>
          <a:xfrm>
            <a:off x="839788" y="2743199"/>
            <a:ext cx="5157787" cy="34464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4"/>
          <p:cNvSpPr txBox="1">
            <a:spLocks noGrp="1"/>
          </p:cNvSpPr>
          <p:nvPr>
            <p:ph type="body" idx="3"/>
          </p:nvPr>
        </p:nvSpPr>
        <p:spPr>
          <a:xfrm>
            <a:off x="6172200" y="18288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1920"/>
              <a:buNone/>
              <a:defRPr sz="2400" b="0"/>
            </a:lvl1pPr>
            <a:lvl2pPr marL="914400" lvl="1" indent="-228600" algn="l">
              <a:lnSpc>
                <a:spcPct val="110000"/>
              </a:lnSpc>
              <a:spcBef>
                <a:spcPts val="500"/>
              </a:spcBef>
              <a:spcAft>
                <a:spcPts val="0"/>
              </a:spcAft>
              <a:buSzPts val="1600"/>
              <a:buNone/>
              <a:defRPr sz="2000" b="1"/>
            </a:lvl2pPr>
            <a:lvl3pPr marL="1371600" lvl="2" indent="-228600" algn="l">
              <a:lnSpc>
                <a:spcPct val="110000"/>
              </a:lnSpc>
              <a:spcBef>
                <a:spcPts val="500"/>
              </a:spcBef>
              <a:spcAft>
                <a:spcPts val="0"/>
              </a:spcAft>
              <a:buSzPts val="1440"/>
              <a:buNone/>
              <a:defRPr sz="1800" b="1"/>
            </a:lvl3pPr>
            <a:lvl4pPr marL="1828800" lvl="3" indent="-228600" algn="l">
              <a:lnSpc>
                <a:spcPct val="110000"/>
              </a:lnSpc>
              <a:spcBef>
                <a:spcPts val="500"/>
              </a:spcBef>
              <a:spcAft>
                <a:spcPts val="0"/>
              </a:spcAft>
              <a:buSzPts val="1280"/>
              <a:buNone/>
              <a:defRPr sz="1600" b="1"/>
            </a:lvl4pPr>
            <a:lvl5pPr marL="2286000" lvl="4" indent="-228600" algn="l">
              <a:lnSpc>
                <a:spcPct val="110000"/>
              </a:lnSpc>
              <a:spcBef>
                <a:spcPts val="500"/>
              </a:spcBef>
              <a:spcAft>
                <a:spcPts val="0"/>
              </a:spcAft>
              <a:buSzPts val="128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34"/>
          <p:cNvSpPr txBox="1">
            <a:spLocks noGrp="1"/>
          </p:cNvSpPr>
          <p:nvPr>
            <p:ph type="body" idx="4"/>
          </p:nvPr>
        </p:nvSpPr>
        <p:spPr>
          <a:xfrm>
            <a:off x="6172200" y="2743199"/>
            <a:ext cx="5183188" cy="3446463"/>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34"/>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4"/>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4"/>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35"/>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5"/>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5"/>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5"/>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36"/>
          <p:cNvSpPr txBox="1">
            <a:spLocks noGrp="1"/>
          </p:cNvSpPr>
          <p:nvPr>
            <p:ph type="title"/>
          </p:nvPr>
        </p:nvSpPr>
        <p:spPr>
          <a:xfrm>
            <a:off x="839788" y="685800"/>
            <a:ext cx="3932237"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6"/>
          <p:cNvSpPr txBox="1">
            <a:spLocks noGrp="1"/>
          </p:cNvSpPr>
          <p:nvPr>
            <p:ph type="body" idx="1"/>
          </p:nvPr>
        </p:nvSpPr>
        <p:spPr>
          <a:xfrm>
            <a:off x="5183188" y="685801"/>
            <a:ext cx="6172200" cy="5175250"/>
          </a:xfrm>
          <a:prstGeom prst="rect">
            <a:avLst/>
          </a:prstGeom>
          <a:noFill/>
          <a:ln>
            <a:noFill/>
          </a:ln>
        </p:spPr>
        <p:txBody>
          <a:bodyPr spcFirstLastPara="1" wrap="square" lIns="91425" tIns="45700" rIns="91425" bIns="45700" anchor="t" anchorCtr="0">
            <a:normAutofit/>
          </a:bodyPr>
          <a:lstStyle>
            <a:lvl1pPr marL="457200" lvl="0" indent="-391160" algn="l">
              <a:lnSpc>
                <a:spcPct val="110000"/>
              </a:lnSpc>
              <a:spcBef>
                <a:spcPts val="1000"/>
              </a:spcBef>
              <a:spcAft>
                <a:spcPts val="0"/>
              </a:spcAft>
              <a:buSzPts val="2560"/>
              <a:buChar char="▪"/>
              <a:defRPr sz="3200"/>
            </a:lvl1pPr>
            <a:lvl2pPr marL="914400" lvl="1" indent="-370840" algn="l">
              <a:lnSpc>
                <a:spcPct val="110000"/>
              </a:lnSpc>
              <a:spcBef>
                <a:spcPts val="500"/>
              </a:spcBef>
              <a:spcAft>
                <a:spcPts val="0"/>
              </a:spcAft>
              <a:buSzPts val="2240"/>
              <a:buChar char="▪"/>
              <a:defRPr sz="2800"/>
            </a:lvl2pPr>
            <a:lvl3pPr marL="1371600" lvl="2" indent="-350520" algn="l">
              <a:lnSpc>
                <a:spcPct val="110000"/>
              </a:lnSpc>
              <a:spcBef>
                <a:spcPts val="500"/>
              </a:spcBef>
              <a:spcAft>
                <a:spcPts val="0"/>
              </a:spcAft>
              <a:buSzPts val="1920"/>
              <a:buChar char="▪"/>
              <a:defRPr sz="2400"/>
            </a:lvl3pPr>
            <a:lvl4pPr marL="1828800" lvl="3" indent="-330200" algn="l">
              <a:lnSpc>
                <a:spcPct val="110000"/>
              </a:lnSpc>
              <a:spcBef>
                <a:spcPts val="500"/>
              </a:spcBef>
              <a:spcAft>
                <a:spcPts val="0"/>
              </a:spcAft>
              <a:buSzPts val="1600"/>
              <a:buChar char="▪"/>
              <a:defRPr sz="2000"/>
            </a:lvl4pPr>
            <a:lvl5pPr marL="2286000" lvl="4" indent="-330200" algn="l">
              <a:lnSpc>
                <a:spcPct val="110000"/>
              </a:lnSpc>
              <a:spcBef>
                <a:spcPts val="500"/>
              </a:spcBef>
              <a:spcAft>
                <a:spcPts val="0"/>
              </a:spcAft>
              <a:buSzPts val="16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8" name="Google Shape;58;p36"/>
          <p:cNvSpPr txBox="1">
            <a:spLocks noGrp="1"/>
          </p:cNvSpPr>
          <p:nvPr>
            <p:ph type="body" idx="2"/>
          </p:nvPr>
        </p:nvSpPr>
        <p:spPr>
          <a:xfrm>
            <a:off x="839788" y="2209800"/>
            <a:ext cx="3932237" cy="36591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280"/>
              <a:buNone/>
              <a:defRPr sz="1600"/>
            </a:lvl1pPr>
            <a:lvl2pPr marL="914400" lvl="1" indent="-228600" algn="l">
              <a:lnSpc>
                <a:spcPct val="110000"/>
              </a:lnSpc>
              <a:spcBef>
                <a:spcPts val="500"/>
              </a:spcBef>
              <a:spcAft>
                <a:spcPts val="0"/>
              </a:spcAft>
              <a:buSzPts val="1120"/>
              <a:buNone/>
              <a:defRPr sz="1400"/>
            </a:lvl2pPr>
            <a:lvl3pPr marL="1371600" lvl="2" indent="-228600" algn="l">
              <a:lnSpc>
                <a:spcPct val="110000"/>
              </a:lnSpc>
              <a:spcBef>
                <a:spcPts val="500"/>
              </a:spcBef>
              <a:spcAft>
                <a:spcPts val="0"/>
              </a:spcAft>
              <a:buSzPts val="960"/>
              <a:buNone/>
              <a:defRPr sz="1200"/>
            </a:lvl3pPr>
            <a:lvl4pPr marL="1828800" lvl="3" indent="-228600" algn="l">
              <a:lnSpc>
                <a:spcPct val="110000"/>
              </a:lnSpc>
              <a:spcBef>
                <a:spcPts val="500"/>
              </a:spcBef>
              <a:spcAft>
                <a:spcPts val="0"/>
              </a:spcAft>
              <a:buSzPts val="800"/>
              <a:buNone/>
              <a:defRPr sz="1000"/>
            </a:lvl4pPr>
            <a:lvl5pPr marL="2286000" lvl="4" indent="-228600" algn="l">
              <a:lnSpc>
                <a:spcPct val="110000"/>
              </a:lnSpc>
              <a:spcBef>
                <a:spcPts val="500"/>
              </a:spcBef>
              <a:spcAft>
                <a:spcPts val="0"/>
              </a:spcAft>
              <a:buSzPts val="8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6"/>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6"/>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6"/>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37"/>
          <p:cNvSpPr txBox="1">
            <a:spLocks noGrp="1"/>
          </p:cNvSpPr>
          <p:nvPr>
            <p:ph type="title"/>
          </p:nvPr>
        </p:nvSpPr>
        <p:spPr>
          <a:xfrm>
            <a:off x="839788" y="685800"/>
            <a:ext cx="3932237" cy="1371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5"/>
              </a:buClr>
              <a:buSzPts val="3200"/>
              <a:buFont typeface="EB Garamon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7"/>
          <p:cNvSpPr>
            <a:spLocks noGrp="1"/>
          </p:cNvSpPr>
          <p:nvPr>
            <p:ph type="pic" idx="2"/>
          </p:nvPr>
        </p:nvSpPr>
        <p:spPr>
          <a:xfrm>
            <a:off x="5183188" y="685801"/>
            <a:ext cx="6172200" cy="5175250"/>
          </a:xfrm>
          <a:prstGeom prst="rect">
            <a:avLst/>
          </a:prstGeom>
          <a:noFill/>
          <a:ln>
            <a:noFill/>
          </a:ln>
        </p:spPr>
      </p:sp>
      <p:sp>
        <p:nvSpPr>
          <p:cNvPr id="65" name="Google Shape;65;p37"/>
          <p:cNvSpPr txBox="1">
            <a:spLocks noGrp="1"/>
          </p:cNvSpPr>
          <p:nvPr>
            <p:ph type="body" idx="1"/>
          </p:nvPr>
        </p:nvSpPr>
        <p:spPr>
          <a:xfrm>
            <a:off x="839788" y="2209800"/>
            <a:ext cx="3932237" cy="36591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280"/>
              <a:buNone/>
              <a:defRPr sz="1600"/>
            </a:lvl1pPr>
            <a:lvl2pPr marL="914400" lvl="1" indent="-228600" algn="l">
              <a:lnSpc>
                <a:spcPct val="110000"/>
              </a:lnSpc>
              <a:spcBef>
                <a:spcPts val="500"/>
              </a:spcBef>
              <a:spcAft>
                <a:spcPts val="0"/>
              </a:spcAft>
              <a:buSzPts val="1120"/>
              <a:buNone/>
              <a:defRPr sz="1400"/>
            </a:lvl2pPr>
            <a:lvl3pPr marL="1371600" lvl="2" indent="-228600" algn="l">
              <a:lnSpc>
                <a:spcPct val="110000"/>
              </a:lnSpc>
              <a:spcBef>
                <a:spcPts val="500"/>
              </a:spcBef>
              <a:spcAft>
                <a:spcPts val="0"/>
              </a:spcAft>
              <a:buSzPts val="960"/>
              <a:buNone/>
              <a:defRPr sz="1200"/>
            </a:lvl3pPr>
            <a:lvl4pPr marL="1828800" lvl="3" indent="-228600" algn="l">
              <a:lnSpc>
                <a:spcPct val="110000"/>
              </a:lnSpc>
              <a:spcBef>
                <a:spcPts val="500"/>
              </a:spcBef>
              <a:spcAft>
                <a:spcPts val="0"/>
              </a:spcAft>
              <a:buSzPts val="800"/>
              <a:buNone/>
              <a:defRPr sz="1000"/>
            </a:lvl4pPr>
            <a:lvl5pPr marL="2286000" lvl="4" indent="-228600" algn="l">
              <a:lnSpc>
                <a:spcPct val="110000"/>
              </a:lnSpc>
              <a:spcBef>
                <a:spcPts val="500"/>
              </a:spcBef>
              <a:spcAft>
                <a:spcPts val="0"/>
              </a:spcAft>
              <a:buSzPts val="8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7"/>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7"/>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7"/>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38"/>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8"/>
          <p:cNvSpPr txBox="1">
            <a:spLocks noGrp="1"/>
          </p:cNvSpPr>
          <p:nvPr>
            <p:ph type="body" idx="1"/>
          </p:nvPr>
        </p:nvSpPr>
        <p:spPr>
          <a:xfrm rot="5400000">
            <a:off x="4096847" y="-1079990"/>
            <a:ext cx="3998306" cy="10515600"/>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38"/>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8"/>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8"/>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39"/>
          <p:cNvSpPr txBox="1">
            <a:spLocks noGrp="1"/>
          </p:cNvSpPr>
          <p:nvPr>
            <p:ph type="title"/>
          </p:nvPr>
        </p:nvSpPr>
        <p:spPr>
          <a:xfrm rot="5400000">
            <a:off x="7331869" y="2155031"/>
            <a:ext cx="541496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9"/>
          <p:cNvSpPr txBox="1">
            <a:spLocks noGrp="1"/>
          </p:cNvSpPr>
          <p:nvPr>
            <p:ph type="body" idx="1"/>
          </p:nvPr>
        </p:nvSpPr>
        <p:spPr>
          <a:xfrm rot="5400000">
            <a:off x="1997869" y="-397669"/>
            <a:ext cx="5414963" cy="7734300"/>
          </a:xfrm>
          <a:prstGeom prst="rect">
            <a:avLst/>
          </a:prstGeom>
          <a:noFill/>
          <a:ln>
            <a:noFill/>
          </a:ln>
        </p:spPr>
        <p:txBody>
          <a:bodyPr spcFirstLastPara="1" wrap="square" lIns="91425" tIns="45700" rIns="91425" bIns="45700" anchor="t" anchorCtr="0">
            <a:normAutofit/>
          </a:bodyPr>
          <a:lstStyle>
            <a:lvl1pPr marL="457200" lvl="0" indent="-320040" algn="l">
              <a:lnSpc>
                <a:spcPct val="110000"/>
              </a:lnSpc>
              <a:spcBef>
                <a:spcPts val="1000"/>
              </a:spcBef>
              <a:spcAft>
                <a:spcPts val="0"/>
              </a:spcAft>
              <a:buSzPts val="1440"/>
              <a:buChar char="▪"/>
              <a:defRPr/>
            </a:lvl1pPr>
            <a:lvl2pPr marL="914400" lvl="1" indent="-320040" algn="l">
              <a:lnSpc>
                <a:spcPct val="110000"/>
              </a:lnSpc>
              <a:spcBef>
                <a:spcPts val="500"/>
              </a:spcBef>
              <a:spcAft>
                <a:spcPts val="0"/>
              </a:spcAft>
              <a:buSzPts val="1440"/>
              <a:buChar char="▪"/>
              <a:defRPr/>
            </a:lvl2pPr>
            <a:lvl3pPr marL="1371600" lvl="2" indent="-320040" algn="l">
              <a:lnSpc>
                <a:spcPct val="110000"/>
              </a:lnSpc>
              <a:spcBef>
                <a:spcPts val="500"/>
              </a:spcBef>
              <a:spcAft>
                <a:spcPts val="0"/>
              </a:spcAft>
              <a:buSzPts val="1440"/>
              <a:buChar char="▪"/>
              <a:defRPr/>
            </a:lvl3pPr>
            <a:lvl4pPr marL="1828800" lvl="3" indent="-320040" algn="l">
              <a:lnSpc>
                <a:spcPct val="110000"/>
              </a:lnSpc>
              <a:spcBef>
                <a:spcPts val="500"/>
              </a:spcBef>
              <a:spcAft>
                <a:spcPts val="0"/>
              </a:spcAft>
              <a:buSzPts val="1440"/>
              <a:buChar char="▪"/>
              <a:defRPr/>
            </a:lvl4pPr>
            <a:lvl5pPr marL="2286000" lvl="4" indent="-320040" algn="l">
              <a:lnSpc>
                <a:spcPct val="110000"/>
              </a:lnSpc>
              <a:spcBef>
                <a:spcPts val="500"/>
              </a:spcBef>
              <a:spcAft>
                <a:spcPts val="0"/>
              </a:spcAft>
              <a:buSzPts val="144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9"/>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9"/>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9"/>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p:nvPr/>
        </p:nvSpPr>
        <p:spPr>
          <a:xfrm>
            <a:off x="0" y="0"/>
            <a:ext cx="12188952" cy="6858000"/>
          </a:xfrm>
          <a:prstGeom prst="frame">
            <a:avLst>
              <a:gd name="adj1" fmla="val 7164"/>
            </a:avLst>
          </a:prstGeom>
          <a:gradFill>
            <a:gsLst>
              <a:gs pos="0">
                <a:srgbClr val="46B196">
                  <a:alpha val="40000"/>
                </a:srgbClr>
              </a:gs>
              <a:gs pos="100000">
                <a:srgbClr val="3B9EB1">
                  <a:alpha val="4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7" name="Google Shape;7;p28"/>
          <p:cNvSpPr txBox="1">
            <a:spLocks noGrp="1"/>
          </p:cNvSpPr>
          <p:nvPr>
            <p:ph type="title"/>
          </p:nvPr>
        </p:nvSpPr>
        <p:spPr>
          <a:xfrm>
            <a:off x="838200" y="681037"/>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accent5"/>
              </a:buClr>
              <a:buSzPts val="5200"/>
              <a:buFont typeface="EB Garamond"/>
              <a:buNone/>
              <a:defRPr sz="5200" b="0" i="0" u="none" strike="noStrike" cap="none">
                <a:solidFill>
                  <a:schemeClr val="accent5"/>
                </a:solidFill>
                <a:latin typeface="EB Garamond"/>
                <a:ea typeface="EB Garamond"/>
                <a:cs typeface="EB Garamond"/>
                <a:sym typeface="EB 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28"/>
          <p:cNvSpPr txBox="1">
            <a:spLocks noGrp="1"/>
          </p:cNvSpPr>
          <p:nvPr>
            <p:ph type="body" idx="1"/>
          </p:nvPr>
        </p:nvSpPr>
        <p:spPr>
          <a:xfrm>
            <a:off x="838200" y="2178657"/>
            <a:ext cx="10515600" cy="3998306"/>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10000"/>
              </a:lnSpc>
              <a:spcBef>
                <a:spcPts val="1000"/>
              </a:spcBef>
              <a:spcAft>
                <a:spcPts val="0"/>
              </a:spcAft>
              <a:buClr>
                <a:srgbClr val="E1EFEF"/>
              </a:buClr>
              <a:buSzPts val="2240"/>
              <a:buFont typeface="Noto Sans Symbols"/>
              <a:buChar char="▪"/>
              <a:defRPr sz="2800" b="0" i="0" u="none" strike="noStrike" cap="none">
                <a:solidFill>
                  <a:schemeClr val="dk2"/>
                </a:solidFill>
                <a:latin typeface="Avenir"/>
                <a:ea typeface="Avenir"/>
                <a:cs typeface="Avenir"/>
                <a:sym typeface="Avenir"/>
              </a:defRPr>
            </a:lvl1pPr>
            <a:lvl2pPr marL="914400" marR="0" lvl="1" indent="-350520" algn="l" rtl="0">
              <a:lnSpc>
                <a:spcPct val="110000"/>
              </a:lnSpc>
              <a:spcBef>
                <a:spcPts val="500"/>
              </a:spcBef>
              <a:spcAft>
                <a:spcPts val="0"/>
              </a:spcAft>
              <a:buClr>
                <a:srgbClr val="E1EFEF"/>
              </a:buClr>
              <a:buSzPts val="1920"/>
              <a:buFont typeface="Noto Sans Symbols"/>
              <a:buChar char="▪"/>
              <a:defRPr sz="2400" b="0" i="0" u="none" strike="noStrike" cap="none">
                <a:solidFill>
                  <a:schemeClr val="dk2"/>
                </a:solidFill>
                <a:latin typeface="Avenir"/>
                <a:ea typeface="Avenir"/>
                <a:cs typeface="Avenir"/>
                <a:sym typeface="Avenir"/>
              </a:defRPr>
            </a:lvl2pPr>
            <a:lvl3pPr marL="1371600" marR="0" lvl="2" indent="-330200" algn="l" rtl="0">
              <a:lnSpc>
                <a:spcPct val="110000"/>
              </a:lnSpc>
              <a:spcBef>
                <a:spcPts val="500"/>
              </a:spcBef>
              <a:spcAft>
                <a:spcPts val="0"/>
              </a:spcAft>
              <a:buClr>
                <a:srgbClr val="E1EFEF"/>
              </a:buClr>
              <a:buSzPts val="1600"/>
              <a:buFont typeface="Noto Sans Symbols"/>
              <a:buChar char="▪"/>
              <a:defRPr sz="2000" b="0" i="0" u="none" strike="noStrike" cap="none">
                <a:solidFill>
                  <a:schemeClr val="dk2"/>
                </a:solidFill>
                <a:latin typeface="Avenir"/>
                <a:ea typeface="Avenir"/>
                <a:cs typeface="Avenir"/>
                <a:sym typeface="Avenir"/>
              </a:defRPr>
            </a:lvl3pPr>
            <a:lvl4pPr marL="1828800" marR="0" lvl="3" indent="-320040" algn="l" rtl="0">
              <a:lnSpc>
                <a:spcPct val="110000"/>
              </a:lnSpc>
              <a:spcBef>
                <a:spcPts val="500"/>
              </a:spcBef>
              <a:spcAft>
                <a:spcPts val="0"/>
              </a:spcAft>
              <a:buClr>
                <a:srgbClr val="E1EFEF"/>
              </a:buClr>
              <a:buSzPts val="1440"/>
              <a:buFont typeface="Noto Sans Symbols"/>
              <a:buChar char="▪"/>
              <a:defRPr sz="1800" b="0" i="0" u="none" strike="noStrike" cap="none">
                <a:solidFill>
                  <a:schemeClr val="dk2"/>
                </a:solidFill>
                <a:latin typeface="Avenir"/>
                <a:ea typeface="Avenir"/>
                <a:cs typeface="Avenir"/>
                <a:sym typeface="Avenir"/>
              </a:defRPr>
            </a:lvl4pPr>
            <a:lvl5pPr marL="2286000" marR="0" lvl="4" indent="-320040" algn="l" rtl="0">
              <a:lnSpc>
                <a:spcPct val="110000"/>
              </a:lnSpc>
              <a:spcBef>
                <a:spcPts val="500"/>
              </a:spcBef>
              <a:spcAft>
                <a:spcPts val="0"/>
              </a:spcAft>
              <a:buClr>
                <a:srgbClr val="E1EFEF"/>
              </a:buClr>
              <a:buSzPts val="1440"/>
              <a:buFont typeface="Noto Sans Symbols"/>
              <a:buChar char="▪"/>
              <a:defRPr sz="1800" b="0" i="0" u="none" strike="noStrike" cap="none">
                <a:solidFill>
                  <a:schemeClr val="dk2"/>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9" name="Google Shape;9;p28"/>
          <p:cNvSpPr txBox="1">
            <a:spLocks noGrp="1"/>
          </p:cNvSpPr>
          <p:nvPr>
            <p:ph type="dt" idx="10"/>
          </p:nvPr>
        </p:nvSpPr>
        <p:spPr>
          <a:xfrm>
            <a:off x="838200" y="6429375"/>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9pPr>
          </a:lstStyle>
          <a:p>
            <a:endParaRPr/>
          </a:p>
        </p:txBody>
      </p:sp>
      <p:sp>
        <p:nvSpPr>
          <p:cNvPr id="10" name="Google Shape;10;p28"/>
          <p:cNvSpPr txBox="1">
            <a:spLocks noGrp="1"/>
          </p:cNvSpPr>
          <p:nvPr>
            <p:ph type="ftr" idx="11"/>
          </p:nvPr>
        </p:nvSpPr>
        <p:spPr>
          <a:xfrm>
            <a:off x="4038600" y="6429375"/>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venir"/>
                <a:ea typeface="Avenir"/>
                <a:cs typeface="Avenir"/>
                <a:sym typeface="Avenir"/>
              </a:defRPr>
            </a:lvl9pPr>
          </a:lstStyle>
          <a:p>
            <a:endParaRPr/>
          </a:p>
        </p:txBody>
      </p:sp>
      <p:sp>
        <p:nvSpPr>
          <p:cNvPr id="11" name="Google Shape;11;p28"/>
          <p:cNvSpPr txBox="1">
            <a:spLocks noGrp="1"/>
          </p:cNvSpPr>
          <p:nvPr>
            <p:ph type="sldNum" idx="12"/>
          </p:nvPr>
        </p:nvSpPr>
        <p:spPr>
          <a:xfrm>
            <a:off x="8610600" y="64293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FFFFFF"/>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6" name="Google Shape;86;p1"/>
          <p:cNvSpPr/>
          <p:nvPr/>
        </p:nvSpPr>
        <p:spPr>
          <a:xfrm>
            <a:off x="0" y="0"/>
            <a:ext cx="12188952" cy="6858000"/>
          </a:xfrm>
          <a:prstGeom prst="rect">
            <a:avLst/>
          </a:prstGeom>
          <a:gradFill>
            <a:gsLst>
              <a:gs pos="0">
                <a:srgbClr val="46B196">
                  <a:alpha val="60000"/>
                </a:srgbClr>
              </a:gs>
              <a:gs pos="100000">
                <a:srgbClr val="3B9EB1">
                  <a:alpha val="6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7" name="Google Shape;87;p1"/>
          <p:cNvSpPr/>
          <p:nvPr/>
        </p:nvSpPr>
        <p:spPr>
          <a:xfrm>
            <a:off x="0" y="663"/>
            <a:ext cx="12188952" cy="6858000"/>
          </a:xfrm>
          <a:prstGeom prst="rect">
            <a:avLst/>
          </a:prstGeom>
          <a:solidFill>
            <a:schemeClr val="lt2">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8" name="Google Shape;88;p1"/>
          <p:cNvSpPr/>
          <p:nvPr/>
        </p:nvSpPr>
        <p:spPr>
          <a:xfrm rot="-5400000">
            <a:off x="2743200" y="0"/>
            <a:ext cx="6857999" cy="6857998"/>
          </a:xfrm>
          <a:prstGeom prst="ellipse">
            <a:avLst/>
          </a:prstGeom>
          <a:gradFill>
            <a:gsLst>
              <a:gs pos="0">
                <a:srgbClr val="D4ECF1">
                  <a:alpha val="40000"/>
                </a:srgbClr>
              </a:gs>
              <a:gs pos="100000">
                <a:srgbClr val="3B9EB1">
                  <a:alpha val="4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89" name="Google Shape;89;p1"/>
          <p:cNvSpPr/>
          <p:nvPr/>
        </p:nvSpPr>
        <p:spPr>
          <a:xfrm rot="-5400000">
            <a:off x="73990" y="1194074"/>
            <a:ext cx="5589934" cy="5737916"/>
          </a:xfrm>
          <a:prstGeom prst="ellipse">
            <a:avLst/>
          </a:prstGeom>
          <a:gradFill>
            <a:gsLst>
              <a:gs pos="0">
                <a:srgbClr val="3B9EB1">
                  <a:alpha val="40000"/>
                </a:srgbClr>
              </a:gs>
              <a:gs pos="100000">
                <a:srgbClr val="C37B4D">
                  <a:alpha val="2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sp>
        <p:nvSpPr>
          <p:cNvPr id="90" name="Google Shape;90;p1"/>
          <p:cNvSpPr/>
          <p:nvPr/>
        </p:nvSpPr>
        <p:spPr>
          <a:xfrm rot="-5400000">
            <a:off x="6439622" y="194269"/>
            <a:ext cx="5760743" cy="5737917"/>
          </a:xfrm>
          <a:prstGeom prst="ellipse">
            <a:avLst/>
          </a:prstGeom>
          <a:gradFill>
            <a:gsLst>
              <a:gs pos="0">
                <a:srgbClr val="3B9EB1">
                  <a:alpha val="20000"/>
                </a:srgbClr>
              </a:gs>
              <a:gs pos="100000">
                <a:srgbClr val="C37B4D">
                  <a:alpha val="40000"/>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venir"/>
              <a:ea typeface="Avenir"/>
              <a:cs typeface="Avenir"/>
              <a:sym typeface="Avenir"/>
            </a:endParaRPr>
          </a:p>
        </p:txBody>
      </p:sp>
      <p:pic>
        <p:nvPicPr>
          <p:cNvPr id="91" name="Google Shape;91;p1" descr="Colored pencils inside a pencil holder which is on top of a wood table"/>
          <p:cNvPicPr preferRelativeResize="0"/>
          <p:nvPr/>
        </p:nvPicPr>
        <p:blipFill rotWithShape="1">
          <a:blip r:embed="rId3">
            <a:alphaModFix amt="20000"/>
          </a:blip>
          <a:srcRect t="15710" r="-1"/>
          <a:stretch/>
        </p:blipFill>
        <p:spPr>
          <a:xfrm>
            <a:off x="0" y="685"/>
            <a:ext cx="12188954" cy="6857989"/>
          </a:xfrm>
          <a:prstGeom prst="rect">
            <a:avLst/>
          </a:prstGeom>
          <a:noFill/>
          <a:ln>
            <a:noFill/>
          </a:ln>
        </p:spPr>
      </p:pic>
      <p:sp>
        <p:nvSpPr>
          <p:cNvPr id="92" name="Google Shape;92;p1"/>
          <p:cNvSpPr txBox="1">
            <a:spLocks noGrp="1"/>
          </p:cNvSpPr>
          <p:nvPr>
            <p:ph type="ctrTitle"/>
          </p:nvPr>
        </p:nvSpPr>
        <p:spPr>
          <a:xfrm>
            <a:off x="1206006" y="429158"/>
            <a:ext cx="9063817" cy="2034599"/>
          </a:xfrm>
          <a:prstGeom prst="rect">
            <a:avLst/>
          </a:prstGeom>
          <a:solidFill>
            <a:srgbClr val="1D4F58"/>
          </a:solidFill>
          <a:ln w="38100" cap="flat" cmpd="sng">
            <a:solidFill>
              <a:schemeClr val="dk2"/>
            </a:solidFill>
            <a:prstDash val="solid"/>
            <a:round/>
            <a:headEnd type="none" w="sm" len="sm"/>
            <a:tailEnd type="none" w="sm" len="sm"/>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ct val="100000"/>
              <a:buFont typeface="EB Garamond"/>
              <a:buNone/>
            </a:pPr>
            <a:r>
              <a:rPr lang="en-US" sz="4400">
                <a:solidFill>
                  <a:schemeClr val="lt1"/>
                </a:solidFill>
              </a:rPr>
              <a:t>Integrated Retail Analytics for Store Optimization and Demand Forecasting (Master’s in Data Science: AI &amp; ML)</a:t>
            </a:r>
            <a:endParaRPr sz="4400">
              <a:solidFill>
                <a:schemeClr val="lt1"/>
              </a:solidFill>
            </a:endParaRPr>
          </a:p>
        </p:txBody>
      </p:sp>
      <p:sp>
        <p:nvSpPr>
          <p:cNvPr id="93" name="Google Shape;93;p1"/>
          <p:cNvSpPr txBox="1">
            <a:spLocks noGrp="1"/>
          </p:cNvSpPr>
          <p:nvPr>
            <p:ph type="subTitle" idx="1"/>
          </p:nvPr>
        </p:nvSpPr>
        <p:spPr>
          <a:xfrm>
            <a:off x="3586300" y="3485450"/>
            <a:ext cx="4197600" cy="624637"/>
          </a:xfrm>
          <a:prstGeom prst="rect">
            <a:avLst/>
          </a:prstGeom>
          <a:solidFill>
            <a:srgbClr val="D4ECF1"/>
          </a:solidFill>
          <a:ln w="38100" cap="flat" cmpd="sng">
            <a:solidFill>
              <a:srgbClr val="1D4F58"/>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760"/>
              <a:buNone/>
            </a:pPr>
            <a:r>
              <a:rPr lang="en-US" sz="2200" b="1" dirty="0">
                <a:solidFill>
                  <a:srgbClr val="1D4F58"/>
                </a:solidFill>
                <a:latin typeface="Arial"/>
                <a:ea typeface="Arial"/>
                <a:cs typeface="Arial"/>
                <a:sym typeface="Arial"/>
              </a:rPr>
              <a:t>Name:- Akshay </a:t>
            </a:r>
            <a:r>
              <a:rPr lang="en-US" sz="2200" b="1" dirty="0" err="1">
                <a:solidFill>
                  <a:srgbClr val="1D4F58"/>
                </a:solidFill>
                <a:latin typeface="Arial"/>
                <a:ea typeface="Arial"/>
                <a:cs typeface="Arial"/>
                <a:sym typeface="Arial"/>
              </a:rPr>
              <a:t>Lohakare</a:t>
            </a:r>
            <a:endParaRPr sz="2200" b="1" dirty="0">
              <a:solidFill>
                <a:srgbClr val="1D4F5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3014816" y="681037"/>
            <a:ext cx="6162368" cy="1325563"/>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Project Objective</a:t>
            </a:r>
            <a:endParaRPr/>
          </a:p>
        </p:txBody>
      </p:sp>
      <p:sp>
        <p:nvSpPr>
          <p:cNvPr id="99" name="Google Shape;99;p2"/>
          <p:cNvSpPr txBox="1">
            <a:spLocks noGrp="1"/>
          </p:cNvSpPr>
          <p:nvPr>
            <p:ph type="body" idx="1"/>
          </p:nvPr>
        </p:nvSpPr>
        <p:spPr>
          <a:xfrm>
            <a:off x="838200" y="2178657"/>
            <a:ext cx="10515600" cy="3998306"/>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t" anchorCtr="0">
            <a:normAutofit lnSpcReduction="10000"/>
          </a:bodyPr>
          <a:lstStyle/>
          <a:p>
            <a:pPr marL="457200" lvl="0" indent="-228600" algn="l" rtl="0">
              <a:lnSpc>
                <a:spcPct val="110000"/>
              </a:lnSpc>
              <a:spcBef>
                <a:spcPts val="0"/>
              </a:spcBef>
              <a:spcAft>
                <a:spcPts val="0"/>
              </a:spcAft>
              <a:buSzPts val="1920"/>
              <a:buFont typeface="Noto Sans Symbols"/>
              <a:buChar char="▪"/>
            </a:pPr>
            <a:r>
              <a:rPr lang="en-US" sz="2400">
                <a:latin typeface="Arial"/>
                <a:ea typeface="Arial"/>
                <a:cs typeface="Arial"/>
                <a:sym typeface="Arial"/>
              </a:rPr>
              <a:t>To utilize machine learning and data analysis techniques to </a:t>
            </a:r>
            <a:r>
              <a:rPr lang="en-US" sz="2400" b="1">
                <a:latin typeface="Arial"/>
                <a:ea typeface="Arial"/>
                <a:cs typeface="Arial"/>
                <a:sym typeface="Arial"/>
              </a:rPr>
              <a:t>optimize store performance, forecast demand, and enhance customer experience through segmentation and personalized marketing strategies</a:t>
            </a:r>
            <a:r>
              <a:rPr lang="en-US" sz="2400">
                <a:latin typeface="Arial"/>
                <a:ea typeface="Arial"/>
                <a:cs typeface="Arial"/>
                <a:sym typeface="Arial"/>
              </a:rPr>
              <a:t>.</a:t>
            </a:r>
            <a:endParaRPr/>
          </a:p>
          <a:p>
            <a:pPr marL="457200" lvl="0" indent="-228600" algn="l" rtl="0">
              <a:lnSpc>
                <a:spcPct val="110000"/>
              </a:lnSpc>
              <a:spcBef>
                <a:spcPts val="1000"/>
              </a:spcBef>
              <a:spcAft>
                <a:spcPts val="0"/>
              </a:spcAft>
              <a:buSzPts val="1920"/>
              <a:buFont typeface="Noto Sans Symbols"/>
              <a:buChar char="▪"/>
            </a:pPr>
            <a:r>
              <a:rPr lang="en-US" sz="2400">
                <a:latin typeface="Arial"/>
                <a:ea typeface="Arial"/>
                <a:cs typeface="Arial"/>
                <a:sym typeface="Arial"/>
              </a:rPr>
              <a:t>To foster long-term customer loyalty and satisfaction by delivering personalized experiences that exceed expectations. By continuously refining our strategies based on customer feedback and market insights, we can position ourselves as a trusted partner in meeting the evolving needs of our customers while driving sustainable business success in an increasingly competitive retail landscape.</a:t>
            </a:r>
            <a:endParaRPr/>
          </a:p>
          <a:p>
            <a:pPr marL="457200" lvl="0" indent="-106679" algn="l" rtl="0">
              <a:lnSpc>
                <a:spcPct val="110000"/>
              </a:lnSpc>
              <a:spcBef>
                <a:spcPts val="1000"/>
              </a:spcBef>
              <a:spcAft>
                <a:spcPts val="0"/>
              </a:spcAft>
              <a:buSzPts val="1920"/>
              <a:buFont typeface="Noto Sans Symbols"/>
              <a:buNone/>
            </a:pPr>
            <a:endParaRPr sz="24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pSp>
        <p:nvGrpSpPr>
          <p:cNvPr id="104" name="Google Shape;104;p3"/>
          <p:cNvGrpSpPr/>
          <p:nvPr/>
        </p:nvGrpSpPr>
        <p:grpSpPr>
          <a:xfrm>
            <a:off x="690715" y="2192595"/>
            <a:ext cx="4471219" cy="3510115"/>
            <a:chOff x="0" y="0"/>
            <a:chExt cx="4471219" cy="3510115"/>
          </a:xfrm>
        </p:grpSpPr>
        <p:cxnSp>
          <p:nvCxnSpPr>
            <p:cNvPr id="105" name="Google Shape;105;p3"/>
            <p:cNvCxnSpPr/>
            <p:nvPr/>
          </p:nvCxnSpPr>
          <p:spPr>
            <a:xfrm>
              <a:off x="0" y="0"/>
              <a:ext cx="4471219"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06" name="Google Shape;106;p3"/>
            <p:cNvSpPr/>
            <p:nvPr/>
          </p:nvSpPr>
          <p:spPr>
            <a:xfrm>
              <a:off x="0" y="0"/>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3"/>
            <p:cNvSpPr txBox="1"/>
            <p:nvPr/>
          </p:nvSpPr>
          <p:spPr>
            <a:xfrm>
              <a:off x="0" y="0"/>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latin typeface="Avenir"/>
                  <a:ea typeface="Avenir"/>
                  <a:cs typeface="Avenir"/>
                  <a:sym typeface="Avenir"/>
                </a:rPr>
                <a:t>About Dataset</a:t>
              </a:r>
              <a:endParaRPr sz="1600" b="0" i="0" u="none" strike="noStrike" cap="none">
                <a:solidFill>
                  <a:schemeClr val="dk1"/>
                </a:solidFill>
                <a:latin typeface="Avenir"/>
                <a:ea typeface="Avenir"/>
                <a:cs typeface="Avenir"/>
                <a:sym typeface="Avenir"/>
              </a:endParaRPr>
            </a:p>
          </p:txBody>
        </p:sp>
        <p:cxnSp>
          <p:nvCxnSpPr>
            <p:cNvPr id="108" name="Google Shape;108;p3"/>
            <p:cNvCxnSpPr/>
            <p:nvPr/>
          </p:nvCxnSpPr>
          <p:spPr>
            <a:xfrm>
              <a:off x="0" y="438764"/>
              <a:ext cx="4471219"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09" name="Google Shape;109;p3"/>
            <p:cNvSpPr/>
            <p:nvPr/>
          </p:nvSpPr>
          <p:spPr>
            <a:xfrm>
              <a:off x="0" y="438764"/>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3"/>
            <p:cNvSpPr txBox="1"/>
            <p:nvPr/>
          </p:nvSpPr>
          <p:spPr>
            <a:xfrm>
              <a:off x="0" y="438764"/>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latin typeface="Avenir"/>
                  <a:ea typeface="Avenir"/>
                  <a:cs typeface="Avenir"/>
                  <a:sym typeface="Avenir"/>
                </a:rPr>
                <a:t>Exploratory Data Analysis</a:t>
              </a:r>
              <a:endParaRPr sz="1600" b="0" i="0" u="none" strike="noStrike" cap="none">
                <a:solidFill>
                  <a:schemeClr val="dk1"/>
                </a:solidFill>
                <a:highlight>
                  <a:srgbClr val="FFFFFF"/>
                </a:highlight>
                <a:latin typeface="Avenir"/>
                <a:ea typeface="Avenir"/>
                <a:cs typeface="Avenir"/>
                <a:sym typeface="Avenir"/>
              </a:endParaRPr>
            </a:p>
          </p:txBody>
        </p:sp>
        <p:cxnSp>
          <p:nvCxnSpPr>
            <p:cNvPr id="111" name="Google Shape;111;p3"/>
            <p:cNvCxnSpPr/>
            <p:nvPr/>
          </p:nvCxnSpPr>
          <p:spPr>
            <a:xfrm>
              <a:off x="0" y="877529"/>
              <a:ext cx="4471219" cy="0"/>
            </a:xfrm>
            <a:prstGeom prst="straightConnector1">
              <a:avLst/>
            </a:prstGeom>
            <a:solidFill>
              <a:srgbClr val="B0393C"/>
            </a:solidFill>
            <a:ln w="12700" cap="flat" cmpd="sng">
              <a:solidFill>
                <a:srgbClr val="B0393C"/>
              </a:solidFill>
              <a:prstDash val="solid"/>
              <a:miter lim="800000"/>
              <a:headEnd type="none" w="sm" len="sm"/>
              <a:tailEnd type="none" w="sm" len="sm"/>
            </a:ln>
          </p:spPr>
        </p:cxnSp>
        <p:sp>
          <p:nvSpPr>
            <p:cNvPr id="112" name="Google Shape;112;p3"/>
            <p:cNvSpPr/>
            <p:nvPr/>
          </p:nvSpPr>
          <p:spPr>
            <a:xfrm>
              <a:off x="0" y="877529"/>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3"/>
            <p:cNvSpPr txBox="1"/>
            <p:nvPr/>
          </p:nvSpPr>
          <p:spPr>
            <a:xfrm>
              <a:off x="0" y="877529"/>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highlight>
                    <a:srgbClr val="FFFFFF"/>
                  </a:highlight>
                  <a:latin typeface="Avenir"/>
                  <a:ea typeface="Avenir"/>
                  <a:cs typeface="Avenir"/>
                  <a:sym typeface="Avenir"/>
                </a:rPr>
                <a:t>Data Preprocessing and Feature Engineering</a:t>
              </a:r>
              <a:endParaRPr sz="1400" b="0" i="0" u="none" strike="noStrike" cap="none">
                <a:solidFill>
                  <a:srgbClr val="000000"/>
                </a:solidFill>
                <a:latin typeface="Arial"/>
                <a:ea typeface="Arial"/>
                <a:cs typeface="Arial"/>
                <a:sym typeface="Arial"/>
              </a:endParaRPr>
            </a:p>
          </p:txBody>
        </p:sp>
        <p:cxnSp>
          <p:nvCxnSpPr>
            <p:cNvPr id="114" name="Google Shape;114;p3"/>
            <p:cNvCxnSpPr/>
            <p:nvPr/>
          </p:nvCxnSpPr>
          <p:spPr>
            <a:xfrm>
              <a:off x="0" y="1316293"/>
              <a:ext cx="4471219" cy="0"/>
            </a:xfrm>
            <a:prstGeom prst="straightConnector1">
              <a:avLst/>
            </a:prstGeom>
            <a:solidFill>
              <a:srgbClr val="C27A4C"/>
            </a:solidFill>
            <a:ln w="12700" cap="flat" cmpd="sng">
              <a:solidFill>
                <a:srgbClr val="C27A4C"/>
              </a:solidFill>
              <a:prstDash val="solid"/>
              <a:miter lim="800000"/>
              <a:headEnd type="none" w="sm" len="sm"/>
              <a:tailEnd type="none" w="sm" len="sm"/>
            </a:ln>
          </p:spPr>
        </p:cxnSp>
        <p:sp>
          <p:nvSpPr>
            <p:cNvPr id="115" name="Google Shape;115;p3"/>
            <p:cNvSpPr/>
            <p:nvPr/>
          </p:nvSpPr>
          <p:spPr>
            <a:xfrm>
              <a:off x="0" y="1316293"/>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0" y="1316293"/>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highlight>
                    <a:srgbClr val="FFFFFF"/>
                  </a:highlight>
                  <a:latin typeface="Avenir"/>
                  <a:ea typeface="Avenir"/>
                  <a:cs typeface="Avenir"/>
                  <a:sym typeface="Avenir"/>
                </a:rPr>
                <a:t>About Dataset</a:t>
              </a:r>
              <a:endParaRPr sz="1600" b="0" i="0" u="none" strike="noStrike" cap="none">
                <a:solidFill>
                  <a:schemeClr val="dk1"/>
                </a:solidFill>
                <a:highlight>
                  <a:srgbClr val="FFFFFF"/>
                </a:highlight>
                <a:latin typeface="Avenir"/>
                <a:ea typeface="Avenir"/>
                <a:cs typeface="Avenir"/>
                <a:sym typeface="Avenir"/>
              </a:endParaRPr>
            </a:p>
          </p:txBody>
        </p:sp>
        <p:cxnSp>
          <p:nvCxnSpPr>
            <p:cNvPr id="117" name="Google Shape;117;p3"/>
            <p:cNvCxnSpPr/>
            <p:nvPr/>
          </p:nvCxnSpPr>
          <p:spPr>
            <a:xfrm>
              <a:off x="0" y="1755058"/>
              <a:ext cx="4471219" cy="0"/>
            </a:xfrm>
            <a:prstGeom prst="straightConnector1">
              <a:avLst/>
            </a:prstGeom>
            <a:solidFill>
              <a:srgbClr val="B09939"/>
            </a:solidFill>
            <a:ln w="12700" cap="flat" cmpd="sng">
              <a:solidFill>
                <a:srgbClr val="B09939"/>
              </a:solidFill>
              <a:prstDash val="solid"/>
              <a:miter lim="800000"/>
              <a:headEnd type="none" w="sm" len="sm"/>
              <a:tailEnd type="none" w="sm" len="sm"/>
            </a:ln>
          </p:spPr>
        </p:cxnSp>
        <p:sp>
          <p:nvSpPr>
            <p:cNvPr id="118" name="Google Shape;118;p3"/>
            <p:cNvSpPr/>
            <p:nvPr/>
          </p:nvSpPr>
          <p:spPr>
            <a:xfrm>
              <a:off x="0" y="1755058"/>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3"/>
            <p:cNvSpPr txBox="1"/>
            <p:nvPr/>
          </p:nvSpPr>
          <p:spPr>
            <a:xfrm>
              <a:off x="0" y="1755058"/>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highlight>
                    <a:srgbClr val="FFFFFF"/>
                  </a:highlight>
                  <a:latin typeface="Avenir"/>
                  <a:ea typeface="Avenir"/>
                  <a:cs typeface="Avenir"/>
                  <a:sym typeface="Avenir"/>
                </a:rPr>
                <a:t>Anomaly Detection in Sales Data</a:t>
              </a:r>
              <a:endParaRPr sz="1400" b="0" i="0" u="none" strike="noStrike" cap="none">
                <a:solidFill>
                  <a:srgbClr val="000000"/>
                </a:solidFill>
                <a:latin typeface="Arial"/>
                <a:ea typeface="Arial"/>
                <a:cs typeface="Arial"/>
                <a:sym typeface="Arial"/>
              </a:endParaRPr>
            </a:p>
          </p:txBody>
        </p:sp>
        <p:cxnSp>
          <p:nvCxnSpPr>
            <p:cNvPr id="120" name="Google Shape;120;p3"/>
            <p:cNvCxnSpPr/>
            <p:nvPr/>
          </p:nvCxnSpPr>
          <p:spPr>
            <a:xfrm>
              <a:off x="0" y="2193822"/>
              <a:ext cx="4471219"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21" name="Google Shape;121;p3"/>
            <p:cNvSpPr/>
            <p:nvPr/>
          </p:nvSpPr>
          <p:spPr>
            <a:xfrm>
              <a:off x="0" y="2193822"/>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
            <p:cNvSpPr txBox="1"/>
            <p:nvPr/>
          </p:nvSpPr>
          <p:spPr>
            <a:xfrm>
              <a:off x="0" y="2193822"/>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EB Garamond"/>
                <a:buNone/>
              </a:pPr>
              <a:r>
                <a:rPr lang="en-US" sz="1600" b="0" i="0" u="none" strike="noStrike" cap="none">
                  <a:solidFill>
                    <a:schemeClr val="dk1"/>
                  </a:solidFill>
                  <a:latin typeface="Avenir"/>
                  <a:ea typeface="Avenir"/>
                  <a:cs typeface="Avenir"/>
                  <a:sym typeface="Avenir"/>
                </a:rPr>
                <a:t>Data Preprocessing and Feature Engineering</a:t>
              </a:r>
              <a:endParaRPr sz="1600" b="0" i="0" u="none" strike="noStrike" cap="none">
                <a:solidFill>
                  <a:schemeClr val="dk1"/>
                </a:solidFill>
                <a:latin typeface="Avenir"/>
                <a:ea typeface="Avenir"/>
                <a:cs typeface="Avenir"/>
                <a:sym typeface="Avenir"/>
              </a:endParaRPr>
            </a:p>
          </p:txBody>
        </p:sp>
        <p:cxnSp>
          <p:nvCxnSpPr>
            <p:cNvPr id="123" name="Google Shape;123;p3"/>
            <p:cNvCxnSpPr/>
            <p:nvPr/>
          </p:nvCxnSpPr>
          <p:spPr>
            <a:xfrm>
              <a:off x="0" y="2632586"/>
              <a:ext cx="4471219"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24" name="Google Shape;124;p3"/>
            <p:cNvSpPr/>
            <p:nvPr/>
          </p:nvSpPr>
          <p:spPr>
            <a:xfrm>
              <a:off x="0" y="2632587"/>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
            <p:cNvSpPr txBox="1"/>
            <p:nvPr/>
          </p:nvSpPr>
          <p:spPr>
            <a:xfrm>
              <a:off x="0" y="2632587"/>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venir"/>
                <a:buNone/>
              </a:pPr>
              <a:r>
                <a:rPr lang="en-US" sz="1600" b="0" i="0" u="none" strike="noStrike" cap="none">
                  <a:solidFill>
                    <a:schemeClr val="dk1"/>
                  </a:solidFill>
                  <a:latin typeface="Avenir"/>
                  <a:ea typeface="Avenir"/>
                  <a:cs typeface="Avenir"/>
                  <a:sym typeface="Avenir"/>
                </a:rPr>
                <a:t>Exploratory Data Analysis</a:t>
              </a:r>
              <a:endParaRPr sz="1400" b="0" i="0" u="none" strike="noStrike" cap="none">
                <a:solidFill>
                  <a:srgbClr val="000000"/>
                </a:solidFill>
                <a:latin typeface="Arial"/>
                <a:ea typeface="Arial"/>
                <a:cs typeface="Arial"/>
                <a:sym typeface="Arial"/>
              </a:endParaRPr>
            </a:p>
          </p:txBody>
        </p:sp>
        <p:cxnSp>
          <p:nvCxnSpPr>
            <p:cNvPr id="126" name="Google Shape;126;p3"/>
            <p:cNvCxnSpPr/>
            <p:nvPr/>
          </p:nvCxnSpPr>
          <p:spPr>
            <a:xfrm>
              <a:off x="0" y="3071351"/>
              <a:ext cx="4471219" cy="0"/>
            </a:xfrm>
            <a:prstGeom prst="straightConnector1">
              <a:avLst/>
            </a:prstGeom>
            <a:solidFill>
              <a:srgbClr val="B0393C"/>
            </a:solidFill>
            <a:ln w="12700" cap="flat" cmpd="sng">
              <a:solidFill>
                <a:srgbClr val="B0393C"/>
              </a:solidFill>
              <a:prstDash val="solid"/>
              <a:miter lim="800000"/>
              <a:headEnd type="none" w="sm" len="sm"/>
              <a:tailEnd type="none" w="sm" len="sm"/>
            </a:ln>
          </p:spPr>
        </p:cxnSp>
        <p:sp>
          <p:nvSpPr>
            <p:cNvPr id="127" name="Google Shape;127;p3"/>
            <p:cNvSpPr/>
            <p:nvPr/>
          </p:nvSpPr>
          <p:spPr>
            <a:xfrm>
              <a:off x="0" y="3071351"/>
              <a:ext cx="4471219" cy="438764"/>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3"/>
            <p:cNvSpPr txBox="1"/>
            <p:nvPr/>
          </p:nvSpPr>
          <p:spPr>
            <a:xfrm>
              <a:off x="0" y="3071351"/>
              <a:ext cx="4471219" cy="438764"/>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dk1"/>
                </a:buClr>
                <a:buSzPts val="1600"/>
                <a:buFont typeface="Avenir"/>
                <a:buNone/>
              </a:pPr>
              <a:r>
                <a:rPr lang="en-US" sz="1600" b="0" i="0" u="none" strike="noStrike" cap="none">
                  <a:solidFill>
                    <a:schemeClr val="dk1"/>
                  </a:solidFill>
                  <a:highlight>
                    <a:srgbClr val="FFFFFF"/>
                  </a:highlight>
                  <a:latin typeface="Avenir"/>
                  <a:ea typeface="Avenir"/>
                  <a:cs typeface="Avenir"/>
                  <a:sym typeface="Avenir"/>
                </a:rPr>
                <a:t>Time-Based Anomaly Detection</a:t>
              </a:r>
              <a:endParaRPr sz="1600" b="0" i="0" u="none" strike="noStrike" cap="none">
                <a:solidFill>
                  <a:schemeClr val="dk1"/>
                </a:solidFill>
                <a:highlight>
                  <a:srgbClr val="FFFFFF"/>
                </a:highlight>
                <a:latin typeface="Avenir"/>
                <a:ea typeface="Avenir"/>
                <a:cs typeface="Avenir"/>
                <a:sym typeface="Avenir"/>
              </a:endParaRPr>
            </a:p>
          </p:txBody>
        </p:sp>
      </p:grpSp>
      <p:grpSp>
        <p:nvGrpSpPr>
          <p:cNvPr id="129" name="Google Shape;129;p3"/>
          <p:cNvGrpSpPr/>
          <p:nvPr/>
        </p:nvGrpSpPr>
        <p:grpSpPr>
          <a:xfrm>
            <a:off x="5338918" y="2193040"/>
            <a:ext cx="6162367" cy="3646875"/>
            <a:chOff x="0" y="445"/>
            <a:chExt cx="6162367" cy="3646875"/>
          </a:xfrm>
        </p:grpSpPr>
        <p:cxnSp>
          <p:nvCxnSpPr>
            <p:cNvPr id="130" name="Google Shape;130;p3"/>
            <p:cNvCxnSpPr/>
            <p:nvPr/>
          </p:nvCxnSpPr>
          <p:spPr>
            <a:xfrm>
              <a:off x="0" y="445"/>
              <a:ext cx="6162367"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31" name="Google Shape;131;p3"/>
            <p:cNvSpPr/>
            <p:nvPr/>
          </p:nvSpPr>
          <p:spPr>
            <a:xfrm>
              <a:off x="0" y="445"/>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
            <p:cNvSpPr txBox="1"/>
            <p:nvPr/>
          </p:nvSpPr>
          <p:spPr>
            <a:xfrm>
              <a:off x="0" y="445"/>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Customer Segmentation Analysis &amp; Segmentation Quality Evaluation</a:t>
              </a:r>
              <a:endParaRPr sz="1400" b="0" i="0" u="none" strike="noStrike" cap="none">
                <a:solidFill>
                  <a:srgbClr val="000000"/>
                </a:solidFill>
                <a:latin typeface="Arial"/>
                <a:ea typeface="Arial"/>
                <a:cs typeface="Arial"/>
                <a:sym typeface="Arial"/>
              </a:endParaRPr>
            </a:p>
          </p:txBody>
        </p:sp>
        <p:cxnSp>
          <p:nvCxnSpPr>
            <p:cNvPr id="133" name="Google Shape;133;p3"/>
            <p:cNvCxnSpPr/>
            <p:nvPr/>
          </p:nvCxnSpPr>
          <p:spPr>
            <a:xfrm>
              <a:off x="0" y="521427"/>
              <a:ext cx="6162367"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34" name="Google Shape;134;p3"/>
            <p:cNvSpPr/>
            <p:nvPr/>
          </p:nvSpPr>
          <p:spPr>
            <a:xfrm>
              <a:off x="0" y="521427"/>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3"/>
            <p:cNvSpPr txBox="1"/>
            <p:nvPr/>
          </p:nvSpPr>
          <p:spPr>
            <a:xfrm>
              <a:off x="0" y="521427"/>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Personalization Strategies</a:t>
              </a:r>
              <a:endParaRPr sz="1500" b="0" i="0" u="none" strike="noStrike" cap="none">
                <a:solidFill>
                  <a:schemeClr val="dk1"/>
                </a:solidFill>
                <a:highlight>
                  <a:srgbClr val="FFFFFF"/>
                </a:highlight>
                <a:latin typeface="Avenir"/>
                <a:ea typeface="Avenir"/>
                <a:cs typeface="Avenir"/>
                <a:sym typeface="Avenir"/>
              </a:endParaRPr>
            </a:p>
          </p:txBody>
        </p:sp>
        <p:cxnSp>
          <p:nvCxnSpPr>
            <p:cNvPr id="136" name="Google Shape;136;p3"/>
            <p:cNvCxnSpPr/>
            <p:nvPr/>
          </p:nvCxnSpPr>
          <p:spPr>
            <a:xfrm>
              <a:off x="0" y="1042409"/>
              <a:ext cx="6162367" cy="0"/>
            </a:xfrm>
            <a:prstGeom prst="straightConnector1">
              <a:avLst/>
            </a:prstGeom>
            <a:solidFill>
              <a:srgbClr val="B0393C"/>
            </a:solidFill>
            <a:ln w="12700" cap="flat" cmpd="sng">
              <a:solidFill>
                <a:srgbClr val="B0393C"/>
              </a:solidFill>
              <a:prstDash val="solid"/>
              <a:miter lim="800000"/>
              <a:headEnd type="none" w="sm" len="sm"/>
              <a:tailEnd type="none" w="sm" len="sm"/>
            </a:ln>
          </p:spPr>
        </p:cxnSp>
        <p:sp>
          <p:nvSpPr>
            <p:cNvPr id="137" name="Google Shape;137;p3"/>
            <p:cNvSpPr/>
            <p:nvPr/>
          </p:nvSpPr>
          <p:spPr>
            <a:xfrm>
              <a:off x="0" y="1042409"/>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
            <p:cNvSpPr txBox="1"/>
            <p:nvPr/>
          </p:nvSpPr>
          <p:spPr>
            <a:xfrm>
              <a:off x="0" y="1042409"/>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Market Basket Analysis</a:t>
              </a:r>
              <a:endParaRPr sz="1500" b="0" i="0" u="none" strike="noStrike" cap="none">
                <a:solidFill>
                  <a:schemeClr val="dk1"/>
                </a:solidFill>
                <a:highlight>
                  <a:srgbClr val="FFFFFF"/>
                </a:highlight>
                <a:latin typeface="Avenir"/>
                <a:ea typeface="Avenir"/>
                <a:cs typeface="Avenir"/>
                <a:sym typeface="Avenir"/>
              </a:endParaRPr>
            </a:p>
          </p:txBody>
        </p:sp>
        <p:cxnSp>
          <p:nvCxnSpPr>
            <p:cNvPr id="139" name="Google Shape;139;p3"/>
            <p:cNvCxnSpPr/>
            <p:nvPr/>
          </p:nvCxnSpPr>
          <p:spPr>
            <a:xfrm>
              <a:off x="0" y="1563391"/>
              <a:ext cx="6162367" cy="0"/>
            </a:xfrm>
            <a:prstGeom prst="straightConnector1">
              <a:avLst/>
            </a:prstGeom>
            <a:solidFill>
              <a:srgbClr val="C27A4C"/>
            </a:solidFill>
            <a:ln w="12700" cap="flat" cmpd="sng">
              <a:solidFill>
                <a:srgbClr val="C27A4C"/>
              </a:solidFill>
              <a:prstDash val="solid"/>
              <a:miter lim="800000"/>
              <a:headEnd type="none" w="sm" len="sm"/>
              <a:tailEnd type="none" w="sm" len="sm"/>
            </a:ln>
          </p:spPr>
        </p:cxnSp>
        <p:sp>
          <p:nvSpPr>
            <p:cNvPr id="140" name="Google Shape;140;p3"/>
            <p:cNvSpPr/>
            <p:nvPr/>
          </p:nvSpPr>
          <p:spPr>
            <a:xfrm>
              <a:off x="0" y="1563391"/>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3"/>
            <p:cNvSpPr txBox="1"/>
            <p:nvPr/>
          </p:nvSpPr>
          <p:spPr>
            <a:xfrm>
              <a:off x="0" y="1563391"/>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Demand Forecasting</a:t>
              </a:r>
              <a:endParaRPr sz="1500" b="0" i="0" u="none" strike="noStrike" cap="none">
                <a:solidFill>
                  <a:schemeClr val="dk1"/>
                </a:solidFill>
                <a:highlight>
                  <a:srgbClr val="FFFFFF"/>
                </a:highlight>
                <a:latin typeface="Avenir"/>
                <a:ea typeface="Avenir"/>
                <a:cs typeface="Avenir"/>
                <a:sym typeface="Avenir"/>
              </a:endParaRPr>
            </a:p>
          </p:txBody>
        </p:sp>
        <p:cxnSp>
          <p:nvCxnSpPr>
            <p:cNvPr id="142" name="Google Shape;142;p3"/>
            <p:cNvCxnSpPr/>
            <p:nvPr/>
          </p:nvCxnSpPr>
          <p:spPr>
            <a:xfrm>
              <a:off x="0" y="2084374"/>
              <a:ext cx="6162367" cy="0"/>
            </a:xfrm>
            <a:prstGeom prst="straightConnector1">
              <a:avLst/>
            </a:prstGeom>
            <a:solidFill>
              <a:srgbClr val="B09939"/>
            </a:solidFill>
            <a:ln w="12700" cap="flat" cmpd="sng">
              <a:solidFill>
                <a:srgbClr val="B09939"/>
              </a:solidFill>
              <a:prstDash val="solid"/>
              <a:miter lim="800000"/>
              <a:headEnd type="none" w="sm" len="sm"/>
              <a:tailEnd type="none" w="sm" len="sm"/>
            </a:ln>
          </p:spPr>
        </p:cxnSp>
        <p:sp>
          <p:nvSpPr>
            <p:cNvPr id="143" name="Google Shape;143;p3"/>
            <p:cNvSpPr/>
            <p:nvPr/>
          </p:nvSpPr>
          <p:spPr>
            <a:xfrm>
              <a:off x="0" y="2084374"/>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
            <p:cNvSpPr txBox="1"/>
            <p:nvPr/>
          </p:nvSpPr>
          <p:spPr>
            <a:xfrm>
              <a:off x="0" y="2084374"/>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Impact of External Factors</a:t>
              </a:r>
              <a:endParaRPr sz="1500" b="0" i="0" u="none" strike="noStrike" cap="none">
                <a:solidFill>
                  <a:schemeClr val="dk1"/>
                </a:solidFill>
                <a:highlight>
                  <a:srgbClr val="FFFFFF"/>
                </a:highlight>
                <a:latin typeface="Avenir"/>
                <a:ea typeface="Avenir"/>
                <a:cs typeface="Avenir"/>
                <a:sym typeface="Avenir"/>
              </a:endParaRPr>
            </a:p>
          </p:txBody>
        </p:sp>
        <p:cxnSp>
          <p:nvCxnSpPr>
            <p:cNvPr id="145" name="Google Shape;145;p3"/>
            <p:cNvCxnSpPr/>
            <p:nvPr/>
          </p:nvCxnSpPr>
          <p:spPr>
            <a:xfrm>
              <a:off x="0" y="2605356"/>
              <a:ext cx="6162367" cy="0"/>
            </a:xfrm>
            <a:prstGeom prst="straightConnector1">
              <a:avLst/>
            </a:prstGeom>
            <a:solidFill>
              <a:srgbClr val="45B195"/>
            </a:solidFill>
            <a:ln w="12700" cap="flat" cmpd="sng">
              <a:solidFill>
                <a:srgbClr val="45B195"/>
              </a:solidFill>
              <a:prstDash val="solid"/>
              <a:miter lim="800000"/>
              <a:headEnd type="none" w="sm" len="sm"/>
              <a:tailEnd type="none" w="sm" len="sm"/>
            </a:ln>
          </p:spPr>
        </p:cxnSp>
        <p:sp>
          <p:nvSpPr>
            <p:cNvPr id="146" name="Google Shape;146;p3"/>
            <p:cNvSpPr/>
            <p:nvPr/>
          </p:nvSpPr>
          <p:spPr>
            <a:xfrm>
              <a:off x="0" y="2605356"/>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3"/>
            <p:cNvSpPr txBox="1"/>
            <p:nvPr/>
          </p:nvSpPr>
          <p:spPr>
            <a:xfrm>
              <a:off x="0" y="2605356"/>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Real-World Application and Strategy Formulation</a:t>
              </a:r>
              <a:endParaRPr sz="1500" b="0" i="0" u="none" strike="noStrike" cap="none">
                <a:solidFill>
                  <a:schemeClr val="dk1"/>
                </a:solidFill>
                <a:highlight>
                  <a:srgbClr val="FFFFFF"/>
                </a:highlight>
                <a:latin typeface="Avenir"/>
                <a:ea typeface="Avenir"/>
                <a:cs typeface="Avenir"/>
                <a:sym typeface="Avenir"/>
              </a:endParaRPr>
            </a:p>
          </p:txBody>
        </p:sp>
        <p:cxnSp>
          <p:nvCxnSpPr>
            <p:cNvPr id="148" name="Google Shape;148;p3"/>
            <p:cNvCxnSpPr/>
            <p:nvPr/>
          </p:nvCxnSpPr>
          <p:spPr>
            <a:xfrm>
              <a:off x="0" y="3126338"/>
              <a:ext cx="6162367" cy="0"/>
            </a:xfrm>
            <a:prstGeom prst="straightConnector1">
              <a:avLst/>
            </a:prstGeom>
            <a:solidFill>
              <a:srgbClr val="4C7EC2"/>
            </a:solidFill>
            <a:ln w="12700" cap="flat" cmpd="sng">
              <a:solidFill>
                <a:srgbClr val="4C7EC2"/>
              </a:solidFill>
              <a:prstDash val="solid"/>
              <a:miter lim="800000"/>
              <a:headEnd type="none" w="sm" len="sm"/>
              <a:tailEnd type="none" w="sm" len="sm"/>
            </a:ln>
          </p:spPr>
        </p:cxnSp>
        <p:sp>
          <p:nvSpPr>
            <p:cNvPr id="149" name="Google Shape;149;p3"/>
            <p:cNvSpPr/>
            <p:nvPr/>
          </p:nvSpPr>
          <p:spPr>
            <a:xfrm>
              <a:off x="0" y="3126338"/>
              <a:ext cx="6162367" cy="52098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3"/>
            <p:cNvSpPr txBox="1"/>
            <p:nvPr/>
          </p:nvSpPr>
          <p:spPr>
            <a:xfrm>
              <a:off x="0" y="3126338"/>
              <a:ext cx="6162367" cy="520982"/>
            </a:xfrm>
            <a:prstGeom prst="rect">
              <a:avLst/>
            </a:prstGeom>
            <a:noFill/>
            <a:ln>
              <a:noFill/>
            </a:ln>
          </p:spPr>
          <p:txBody>
            <a:bodyPr spcFirstLastPara="1" wrap="square" lIns="57150" tIns="57150" rIns="57150" bIns="57150" anchor="t" anchorCtr="0">
              <a:noAutofit/>
            </a:bodyPr>
            <a:lstStyle/>
            <a:p>
              <a:pPr marL="0" marR="0" lvl="0" indent="0" algn="l" rtl="0">
                <a:lnSpc>
                  <a:spcPct val="90000"/>
                </a:lnSpc>
                <a:spcBef>
                  <a:spcPts val="0"/>
                </a:spcBef>
                <a:spcAft>
                  <a:spcPts val="0"/>
                </a:spcAft>
                <a:buClr>
                  <a:schemeClr val="dk1"/>
                </a:buClr>
                <a:buSzPts val="1500"/>
                <a:buFont typeface="Avenir"/>
                <a:buNone/>
              </a:pPr>
              <a:r>
                <a:rPr lang="en-US" sz="1500" b="0" i="0" u="none" strike="noStrike" cap="none">
                  <a:solidFill>
                    <a:schemeClr val="dk1"/>
                  </a:solidFill>
                  <a:highlight>
                    <a:srgbClr val="FFFFFF"/>
                  </a:highlight>
                  <a:latin typeface="Avenir"/>
                  <a:ea typeface="Avenir"/>
                  <a:cs typeface="Avenir"/>
                  <a:sym typeface="Avenir"/>
                </a:rPr>
                <a:t>Conclusion</a:t>
              </a:r>
              <a:endParaRPr sz="1500" b="0" i="0" u="none" strike="noStrike" cap="none">
                <a:solidFill>
                  <a:schemeClr val="dk1"/>
                </a:solidFill>
                <a:latin typeface="Avenir"/>
                <a:ea typeface="Avenir"/>
                <a:cs typeface="Avenir"/>
                <a:sym typeface="Avenir"/>
              </a:endParaRPr>
            </a:p>
          </p:txBody>
        </p:sp>
      </p:grpSp>
      <p:sp>
        <p:nvSpPr>
          <p:cNvPr id="151" name="Google Shape;151;p3"/>
          <p:cNvSpPr txBox="1">
            <a:spLocks noGrp="1"/>
          </p:cNvSpPr>
          <p:nvPr>
            <p:ph type="title"/>
          </p:nvPr>
        </p:nvSpPr>
        <p:spPr>
          <a:xfrm>
            <a:off x="3014816" y="523721"/>
            <a:ext cx="6162368" cy="1325563"/>
          </a:xfrm>
          <a:prstGeom prst="rect">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Project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4"/>
          <p:cNvSpPr txBox="1">
            <a:spLocks noGrp="1"/>
          </p:cNvSpPr>
          <p:nvPr>
            <p:ph type="title"/>
          </p:nvPr>
        </p:nvSpPr>
        <p:spPr>
          <a:xfrm>
            <a:off x="589935" y="1000527"/>
            <a:ext cx="4473678" cy="931454"/>
          </a:xfrm>
          <a:prstGeom prst="rect">
            <a:avLst/>
          </a:prstGeom>
          <a:noFill/>
          <a:ln w="19050" cap="flat" cmpd="sng">
            <a:solidFill>
              <a:srgbClr val="2A4A48"/>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About Dataset</a:t>
            </a:r>
            <a:endParaRPr/>
          </a:p>
        </p:txBody>
      </p:sp>
      <p:grpSp>
        <p:nvGrpSpPr>
          <p:cNvPr id="157" name="Google Shape;157;p4"/>
          <p:cNvGrpSpPr/>
          <p:nvPr/>
        </p:nvGrpSpPr>
        <p:grpSpPr>
          <a:xfrm>
            <a:off x="5349470" y="1015784"/>
            <a:ext cx="6124050" cy="3756016"/>
            <a:chOff x="723" y="15257"/>
            <a:chExt cx="6124050" cy="3756016"/>
          </a:xfrm>
        </p:grpSpPr>
        <p:sp>
          <p:nvSpPr>
            <p:cNvPr id="158" name="Google Shape;158;p4"/>
            <p:cNvSpPr/>
            <p:nvPr/>
          </p:nvSpPr>
          <p:spPr>
            <a:xfrm>
              <a:off x="723" y="15257"/>
              <a:ext cx="2629058" cy="662400"/>
            </a:xfrm>
            <a:prstGeom prst="rect">
              <a:avLst/>
            </a:prstGeom>
            <a:solidFill>
              <a:srgbClr val="399DB0"/>
            </a:solidFill>
            <a:ln w="12700" cap="flat" cmpd="sng">
              <a:solidFill>
                <a:srgbClr val="399DB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4"/>
            <p:cNvSpPr txBox="1"/>
            <p:nvPr/>
          </p:nvSpPr>
          <p:spPr>
            <a:xfrm>
              <a:off x="723" y="15257"/>
              <a:ext cx="2629058" cy="662400"/>
            </a:xfrm>
            <a:prstGeom prst="rect">
              <a:avLst/>
            </a:prstGeom>
            <a:noFill/>
            <a:ln>
              <a:noFill/>
            </a:ln>
          </p:spPr>
          <p:txBody>
            <a:bodyPr spcFirstLastPara="1" wrap="square" lIns="113775" tIns="65000" rIns="113775" bIns="650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Feature Dataset</a:t>
              </a:r>
              <a:endParaRPr sz="1600" b="0" i="0" u="none" strike="noStrike" cap="none">
                <a:solidFill>
                  <a:schemeClr val="lt1"/>
                </a:solidFill>
                <a:latin typeface="Arial"/>
                <a:ea typeface="Arial"/>
                <a:cs typeface="Arial"/>
                <a:sym typeface="Arial"/>
              </a:endParaRPr>
            </a:p>
          </p:txBody>
        </p:sp>
        <p:sp>
          <p:nvSpPr>
            <p:cNvPr id="160" name="Google Shape;160;p4"/>
            <p:cNvSpPr/>
            <p:nvPr/>
          </p:nvSpPr>
          <p:spPr>
            <a:xfrm>
              <a:off x="6599" y="677658"/>
              <a:ext cx="2617307" cy="3093615"/>
            </a:xfrm>
            <a:prstGeom prst="rect">
              <a:avLst/>
            </a:prstGeom>
            <a:solidFill>
              <a:srgbClr val="CDDEE3">
                <a:alpha val="89411"/>
              </a:srgbClr>
            </a:solidFill>
            <a:ln w="12700" cap="flat" cmpd="sng">
              <a:solidFill>
                <a:srgbClr val="CDDEE3">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4"/>
            <p:cNvSpPr txBox="1"/>
            <p:nvPr/>
          </p:nvSpPr>
          <p:spPr>
            <a:xfrm>
              <a:off x="6599" y="677658"/>
              <a:ext cx="2617307" cy="3093615"/>
            </a:xfrm>
            <a:prstGeom prst="rect">
              <a:avLst/>
            </a:prstGeom>
            <a:noFill/>
            <a:ln>
              <a:noFill/>
            </a:ln>
          </p:spPr>
          <p:txBody>
            <a:bodyPr spcFirstLastPara="1" wrap="square" lIns="69325" tIns="69325" rIns="92450" bIns="104000" anchor="t" anchorCtr="0">
              <a:noAutofit/>
            </a:bodyPr>
            <a:lstStyle/>
            <a:p>
              <a:pPr marL="114300" marR="0" lvl="1" indent="-114300" algn="l" rtl="0">
                <a:lnSpc>
                  <a:spcPct val="90000"/>
                </a:lnSpc>
                <a:spcBef>
                  <a:spcPts val="0"/>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Store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Date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Temperature (average temperature in the region)</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Fuel Price (cost of fuel in the region)</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1</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2</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3</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4</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Markdown 5</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CPI (consumer price index)</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Unemployment (unemployment rate)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Is holiday</a:t>
              </a:r>
              <a:endParaRPr sz="1300" b="0" i="0" u="none" strike="noStrike" cap="none">
                <a:solidFill>
                  <a:schemeClr val="dk1"/>
                </a:solidFill>
                <a:latin typeface="Arial"/>
                <a:ea typeface="Arial"/>
                <a:cs typeface="Arial"/>
                <a:sym typeface="Arial"/>
              </a:endParaRPr>
            </a:p>
          </p:txBody>
        </p:sp>
        <p:sp>
          <p:nvSpPr>
            <p:cNvPr id="162" name="Google Shape;162;p4"/>
            <p:cNvSpPr/>
            <p:nvPr/>
          </p:nvSpPr>
          <p:spPr>
            <a:xfrm>
              <a:off x="2997850" y="15257"/>
              <a:ext cx="1512523" cy="662400"/>
            </a:xfrm>
            <a:prstGeom prst="rect">
              <a:avLst/>
            </a:prstGeom>
            <a:solidFill>
              <a:srgbClr val="399DB0"/>
            </a:solidFill>
            <a:ln w="12700" cap="flat" cmpd="sng">
              <a:solidFill>
                <a:srgbClr val="399DB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4"/>
            <p:cNvSpPr txBox="1"/>
            <p:nvPr/>
          </p:nvSpPr>
          <p:spPr>
            <a:xfrm>
              <a:off x="2997850" y="15257"/>
              <a:ext cx="1512523" cy="662400"/>
            </a:xfrm>
            <a:prstGeom prst="rect">
              <a:avLst/>
            </a:prstGeom>
            <a:noFill/>
            <a:ln>
              <a:noFill/>
            </a:ln>
          </p:spPr>
          <p:txBody>
            <a:bodyPr spcFirstLastPara="1" wrap="square" lIns="113775" tIns="65000" rIns="113775" bIns="650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Sales Dataset</a:t>
              </a:r>
              <a:endParaRPr sz="1600" b="1" i="0" u="none" strike="noStrike" cap="none">
                <a:solidFill>
                  <a:schemeClr val="lt1"/>
                </a:solidFill>
                <a:latin typeface="Arial"/>
                <a:ea typeface="Arial"/>
                <a:cs typeface="Arial"/>
                <a:sym typeface="Arial"/>
              </a:endParaRPr>
            </a:p>
          </p:txBody>
        </p:sp>
        <p:sp>
          <p:nvSpPr>
            <p:cNvPr id="164" name="Google Shape;164;p4"/>
            <p:cNvSpPr/>
            <p:nvPr/>
          </p:nvSpPr>
          <p:spPr>
            <a:xfrm>
              <a:off x="3006815" y="677658"/>
              <a:ext cx="1494593" cy="3093615"/>
            </a:xfrm>
            <a:prstGeom prst="rect">
              <a:avLst/>
            </a:prstGeom>
            <a:solidFill>
              <a:srgbClr val="CDDEE3">
                <a:alpha val="89411"/>
              </a:srgbClr>
            </a:solidFill>
            <a:ln w="12700" cap="flat" cmpd="sng">
              <a:solidFill>
                <a:srgbClr val="CDDEE3">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4"/>
            <p:cNvSpPr txBox="1"/>
            <p:nvPr/>
          </p:nvSpPr>
          <p:spPr>
            <a:xfrm>
              <a:off x="3006815" y="677658"/>
              <a:ext cx="1494593" cy="3093615"/>
            </a:xfrm>
            <a:prstGeom prst="rect">
              <a:avLst/>
            </a:prstGeom>
            <a:noFill/>
            <a:ln>
              <a:noFill/>
            </a:ln>
          </p:spPr>
          <p:txBody>
            <a:bodyPr spcFirstLastPara="1" wrap="square" lIns="69325" tIns="69325" rIns="92450" bIns="104000" anchor="t" anchorCtr="0">
              <a:noAutofit/>
            </a:bodyPr>
            <a:lstStyle/>
            <a:p>
              <a:pPr marL="114300" marR="0" lvl="1" indent="-114300" algn="l" rtl="0">
                <a:lnSpc>
                  <a:spcPct val="90000"/>
                </a:lnSpc>
                <a:spcBef>
                  <a:spcPts val="0"/>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Store (store number)</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Department (department number)</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Date (the week)</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Weekly Sales (sales for the given department in the given store)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Is holiday (whether the week is a special holiday week)</a:t>
              </a:r>
              <a:endParaRPr sz="1300" b="0" i="0" u="none" strike="noStrike" cap="none">
                <a:solidFill>
                  <a:schemeClr val="dk1"/>
                </a:solidFill>
                <a:latin typeface="Arial"/>
                <a:ea typeface="Arial"/>
                <a:cs typeface="Arial"/>
                <a:sym typeface="Arial"/>
              </a:endParaRPr>
            </a:p>
          </p:txBody>
        </p:sp>
        <p:sp>
          <p:nvSpPr>
            <p:cNvPr id="166" name="Google Shape;166;p4"/>
            <p:cNvSpPr/>
            <p:nvPr/>
          </p:nvSpPr>
          <p:spPr>
            <a:xfrm>
              <a:off x="4878442" y="15257"/>
              <a:ext cx="1246331" cy="662400"/>
            </a:xfrm>
            <a:prstGeom prst="rect">
              <a:avLst/>
            </a:prstGeom>
            <a:solidFill>
              <a:srgbClr val="399DB0"/>
            </a:solidFill>
            <a:ln w="12700" cap="flat" cmpd="sng">
              <a:solidFill>
                <a:srgbClr val="399DB0"/>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4"/>
            <p:cNvSpPr txBox="1"/>
            <p:nvPr/>
          </p:nvSpPr>
          <p:spPr>
            <a:xfrm>
              <a:off x="4878442" y="15257"/>
              <a:ext cx="1246331" cy="662400"/>
            </a:xfrm>
            <a:prstGeom prst="rect">
              <a:avLst/>
            </a:prstGeom>
            <a:noFill/>
            <a:ln>
              <a:noFill/>
            </a:ln>
          </p:spPr>
          <p:txBody>
            <a:bodyPr spcFirstLastPara="1" wrap="square" lIns="113775" tIns="65000" rIns="113775" bIns="650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Store Dataset</a:t>
              </a:r>
              <a:endParaRPr sz="1600" b="1" i="0" u="none" strike="noStrike" cap="none">
                <a:solidFill>
                  <a:schemeClr val="lt1"/>
                </a:solidFill>
                <a:latin typeface="Arial"/>
                <a:ea typeface="Arial"/>
                <a:cs typeface="Arial"/>
                <a:sym typeface="Arial"/>
              </a:endParaRPr>
            </a:p>
          </p:txBody>
        </p:sp>
        <p:sp>
          <p:nvSpPr>
            <p:cNvPr id="168" name="Google Shape;168;p4"/>
            <p:cNvSpPr/>
            <p:nvPr/>
          </p:nvSpPr>
          <p:spPr>
            <a:xfrm>
              <a:off x="4878442" y="677658"/>
              <a:ext cx="1246331" cy="3093615"/>
            </a:xfrm>
            <a:prstGeom prst="rect">
              <a:avLst/>
            </a:prstGeom>
            <a:solidFill>
              <a:srgbClr val="CDDEE3">
                <a:alpha val="89411"/>
              </a:srgbClr>
            </a:solidFill>
            <a:ln w="12700" cap="flat" cmpd="sng">
              <a:solidFill>
                <a:srgbClr val="CDDEE3">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4"/>
            <p:cNvSpPr txBox="1"/>
            <p:nvPr/>
          </p:nvSpPr>
          <p:spPr>
            <a:xfrm>
              <a:off x="4878442" y="677658"/>
              <a:ext cx="1246331" cy="3093615"/>
            </a:xfrm>
            <a:prstGeom prst="rect">
              <a:avLst/>
            </a:prstGeom>
            <a:noFill/>
            <a:ln>
              <a:noFill/>
            </a:ln>
          </p:spPr>
          <p:txBody>
            <a:bodyPr spcFirstLastPara="1" wrap="square" lIns="69325" tIns="69325" rIns="92450" bIns="104000" anchor="t" anchorCtr="0">
              <a:noAutofit/>
            </a:bodyPr>
            <a:lstStyle/>
            <a:p>
              <a:pPr marL="114300" marR="0" lvl="1" indent="-114300" algn="l" rtl="0">
                <a:lnSpc>
                  <a:spcPct val="90000"/>
                </a:lnSpc>
                <a:spcBef>
                  <a:spcPts val="0"/>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Store (store number)</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Type (type of store)</a:t>
              </a:r>
              <a:endParaRPr sz="1300" b="0" i="0" u="none" strike="noStrike" cap="none">
                <a:solidFill>
                  <a:schemeClr val="dk1"/>
                </a:solidFill>
                <a:latin typeface="Arial"/>
                <a:ea typeface="Arial"/>
                <a:cs typeface="Arial"/>
                <a:sym typeface="Arial"/>
              </a:endParaRPr>
            </a:p>
            <a:p>
              <a:pPr marL="114300" marR="0" lvl="1" indent="-114300" algn="l" rtl="0">
                <a:lnSpc>
                  <a:spcPct val="90000"/>
                </a:lnSpc>
                <a:spcBef>
                  <a:spcPts val="195"/>
                </a:spcBef>
                <a:spcAft>
                  <a:spcPts val="0"/>
                </a:spcAft>
                <a:buClr>
                  <a:schemeClr val="dk1"/>
                </a:buClr>
                <a:buSzPts val="1300"/>
                <a:buFont typeface="Arial"/>
                <a:buChar char="•"/>
              </a:pPr>
              <a:r>
                <a:rPr lang="en-US" sz="1300" b="0" i="0" u="none" strike="noStrike" cap="none">
                  <a:solidFill>
                    <a:schemeClr val="dk1"/>
                  </a:solidFill>
                  <a:latin typeface="Arial"/>
                  <a:ea typeface="Arial"/>
                  <a:cs typeface="Arial"/>
                  <a:sym typeface="Arial"/>
                </a:rPr>
                <a:t>Size (size of store)</a:t>
              </a:r>
              <a:endParaRPr sz="1300" b="0" i="0" u="none" strike="noStrike" cap="none">
                <a:solidFill>
                  <a:schemeClr val="dk1"/>
                </a:solidFill>
                <a:latin typeface="Arial"/>
                <a:ea typeface="Arial"/>
                <a:cs typeface="Arial"/>
                <a:sym typeface="Arial"/>
              </a:endParaRPr>
            </a:p>
          </p:txBody>
        </p:sp>
      </p:grpSp>
      <p:sp>
        <p:nvSpPr>
          <p:cNvPr id="170" name="Google Shape;170;p4"/>
          <p:cNvSpPr txBox="1"/>
          <p:nvPr/>
        </p:nvSpPr>
        <p:spPr>
          <a:xfrm>
            <a:off x="762000" y="2112820"/>
            <a:ext cx="3677264"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Content: </a:t>
            </a:r>
            <a:r>
              <a:rPr lang="en-US" sz="1600" b="0" i="0" u="none" strike="noStrike" cap="none">
                <a:solidFill>
                  <a:schemeClr val="dk1"/>
                </a:solidFill>
                <a:latin typeface="Arial"/>
                <a:ea typeface="Arial"/>
                <a:cs typeface="Arial"/>
                <a:sym typeface="Arial"/>
              </a:rPr>
              <a:t>You are provided with historical sales data for 45 stores located in different regions - each store contains a number of departments. The company also runs several promotional markdown events throughout the year. These markdowns precede prominent holidays, the four largest of which are the Super Bowl, Labor Day, Thanksgiving, and Christmas. The weeks including these holidays are weighted five times higher in the evaluation than non-holiday weeks.</a:t>
            </a:r>
            <a:endParaRPr sz="1600" b="0" i="0" u="none" strike="noStrike" cap="none">
              <a:solidFill>
                <a:schemeClr val="dk1"/>
              </a:solidFill>
              <a:latin typeface="Arial"/>
              <a:ea typeface="Arial"/>
              <a:cs typeface="Arial"/>
              <a:sym typeface="Arial"/>
            </a:endParaRPr>
          </a:p>
        </p:txBody>
      </p:sp>
      <p:sp>
        <p:nvSpPr>
          <p:cNvPr id="171" name="Google Shape;171;p4"/>
          <p:cNvSpPr txBox="1"/>
          <p:nvPr/>
        </p:nvSpPr>
        <p:spPr>
          <a:xfrm>
            <a:off x="4581831" y="4985822"/>
            <a:ext cx="7098892"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Markdown: </a:t>
            </a:r>
            <a:r>
              <a:rPr lang="en-US" sz="1600" b="0" i="0" u="none" strike="noStrike" cap="none">
                <a:solidFill>
                  <a:schemeClr val="dk1"/>
                </a:solidFill>
                <a:latin typeface="Arial"/>
                <a:ea typeface="Arial"/>
                <a:cs typeface="Arial"/>
                <a:sym typeface="Arial"/>
              </a:rPr>
              <a:t>Markdown is a deliberate reduction in the original selling price of a product. Retailers use markdowns to clear out old or slow-moving inventory, make room for new products, and recoup some of the costs associated with carrying unsold merchandise.</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838200" y="681038"/>
            <a:ext cx="10515600" cy="8232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000"/>
              <a:buFont typeface="EB Garamond"/>
              <a:buNone/>
            </a:pPr>
            <a:r>
              <a:rPr lang="en-US" sz="4000"/>
              <a:t>Data Preprocessing and Feature Engineering</a:t>
            </a:r>
            <a:endParaRPr sz="4000"/>
          </a:p>
        </p:txBody>
      </p:sp>
      <p:pic>
        <p:nvPicPr>
          <p:cNvPr id="177" name="Google Shape;177;p5" descr="A screenshot of a graph&#10;&#10;Description automatically generated"/>
          <p:cNvPicPr preferRelativeResize="0">
            <a:picLocks noGrp="1"/>
          </p:cNvPicPr>
          <p:nvPr>
            <p:ph type="body" idx="1"/>
          </p:nvPr>
        </p:nvPicPr>
        <p:blipFill rotWithShape="1">
          <a:blip r:embed="rId3">
            <a:alphaModFix/>
          </a:blip>
          <a:srcRect t="1" b="60102"/>
          <a:stretch/>
        </p:blipFill>
        <p:spPr>
          <a:xfrm>
            <a:off x="625966" y="1592826"/>
            <a:ext cx="6374601" cy="4318000"/>
          </a:xfrm>
          <a:prstGeom prst="rect">
            <a:avLst/>
          </a:prstGeom>
          <a:noFill/>
          <a:ln w="9525" cap="flat" cmpd="sng">
            <a:solidFill>
              <a:srgbClr val="2A4A48"/>
            </a:solidFill>
            <a:prstDash val="solid"/>
            <a:round/>
            <a:headEnd type="none" w="sm" len="sm"/>
            <a:tailEnd type="none" w="sm" len="sm"/>
          </a:ln>
        </p:spPr>
      </p:pic>
      <p:sp>
        <p:nvSpPr>
          <p:cNvPr id="178" name="Google Shape;178;p5"/>
          <p:cNvSpPr txBox="1"/>
          <p:nvPr/>
        </p:nvSpPr>
        <p:spPr>
          <a:xfrm>
            <a:off x="7226709" y="1663509"/>
            <a:ext cx="3982065" cy="424731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Arial"/>
                <a:ea typeface="Arial"/>
                <a:cs typeface="Arial"/>
                <a:sym typeface="Arial"/>
              </a:rPr>
              <a:t>Changing datatype: </a:t>
            </a:r>
            <a:r>
              <a:rPr lang="en-US" sz="1500" b="0" i="0" u="none" strike="noStrike" cap="none">
                <a:solidFill>
                  <a:schemeClr val="dk1"/>
                </a:solidFill>
                <a:latin typeface="Arial"/>
                <a:ea typeface="Arial"/>
                <a:cs typeface="Arial"/>
                <a:sym typeface="Arial"/>
              </a:rPr>
              <a:t>Convert data type of dates column to datetime to extract days, months, weeks &amp; year details.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Arial"/>
                <a:ea typeface="Arial"/>
                <a:cs typeface="Arial"/>
                <a:sym typeface="Arial"/>
              </a:rPr>
              <a:t>Merging Datasets: </a:t>
            </a:r>
            <a:r>
              <a:rPr lang="en-US" sz="1500" b="0" i="0" u="none" strike="noStrike" cap="none">
                <a:solidFill>
                  <a:schemeClr val="dk1"/>
                </a:solidFill>
                <a:latin typeface="Arial"/>
                <a:ea typeface="Arial"/>
                <a:cs typeface="Arial"/>
                <a:sym typeface="Arial"/>
              </a:rPr>
              <a:t>Joined all the tables i.e. features, stores and sales table in a single table.</a:t>
            </a:r>
            <a:endParaRPr sz="15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rgbClr val="212121"/>
                </a:solidFill>
                <a:highlight>
                  <a:srgbClr val="FFFFFF"/>
                </a:highlight>
                <a:latin typeface="Arial"/>
                <a:ea typeface="Arial"/>
                <a:cs typeface="Arial"/>
                <a:sym typeface="Arial"/>
              </a:rPr>
              <a:t>Handle Missing Values:</a:t>
            </a:r>
            <a:r>
              <a:rPr lang="en-US" sz="1500" b="0" i="0" u="none" strike="noStrike" cap="none">
                <a:solidFill>
                  <a:srgbClr val="212121"/>
                </a:solidFill>
                <a:highlight>
                  <a:srgbClr val="FFFFFF"/>
                </a:highlight>
                <a:latin typeface="Arial"/>
                <a:ea typeface="Arial"/>
                <a:cs typeface="Arial"/>
                <a:sym typeface="Arial"/>
              </a:rPr>
              <a:t> Use techniques like median imputation due to anomalies to address missing values in your markdown columns . </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rgbClr val="212121"/>
                </a:solidFill>
                <a:highlight>
                  <a:srgbClr val="FFFFFF"/>
                </a:highlight>
                <a:latin typeface="Arial"/>
                <a:ea typeface="Arial"/>
                <a:cs typeface="Arial"/>
                <a:sym typeface="Arial"/>
              </a:rPr>
              <a:t>This step ensures that you have a complete dataset for analysis.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rgbClr val="212121"/>
                </a:solidFill>
                <a:highlight>
                  <a:srgbClr val="FFFFFF"/>
                </a:highlight>
                <a:latin typeface="Arial"/>
                <a:ea typeface="Arial"/>
                <a:cs typeface="Arial"/>
                <a:sym typeface="Arial"/>
              </a:rPr>
              <a:t>Normalize Sales Data</a:t>
            </a:r>
            <a:r>
              <a:rPr lang="en-US" sz="1500" b="0" i="0" u="none" strike="noStrike" cap="none">
                <a:solidFill>
                  <a:srgbClr val="212121"/>
                </a:solidFill>
                <a:highlight>
                  <a:srgbClr val="FFFFFF"/>
                </a:highlight>
                <a:latin typeface="Arial"/>
                <a:ea typeface="Arial"/>
                <a:cs typeface="Arial"/>
                <a:sym typeface="Arial"/>
              </a:rPr>
              <a:t>: Apply one of the normalization techniques discussed earlier to bring all sales data on a consistent scale. Applied Min-Max Scaling on the sales data.</a:t>
            </a:r>
            <a:endParaRPr sz="1500" b="0" i="0" u="none" strike="noStrike" cap="none">
              <a:solidFill>
                <a:srgbClr val="212121"/>
              </a:solidFill>
              <a:highlight>
                <a:srgbClr val="FFFFFF"/>
              </a:highlight>
              <a:latin typeface="Arial"/>
              <a:ea typeface="Arial"/>
              <a:cs typeface="Arial"/>
              <a:sym typeface="Arial"/>
            </a:endParaRPr>
          </a:p>
          <a:p>
            <a:pPr marL="0" marR="0" lvl="0" indent="0" algn="just" rtl="0">
              <a:lnSpc>
                <a:spcPct val="100000"/>
              </a:lnSpc>
              <a:spcBef>
                <a:spcPts val="0"/>
              </a:spcBef>
              <a:spcAft>
                <a:spcPts val="0"/>
              </a:spcAft>
              <a:buClr>
                <a:srgbClr val="000000"/>
              </a:buClr>
              <a:buSzPts val="1500"/>
              <a:buFont typeface="Arial"/>
              <a:buNone/>
            </a:pPr>
            <a:r>
              <a:rPr lang="en-US" sz="1500" b="1" i="0" u="none" strike="noStrike" cap="none">
                <a:solidFill>
                  <a:srgbClr val="212121"/>
                </a:solidFill>
                <a:highlight>
                  <a:srgbClr val="FFFFFF"/>
                </a:highlight>
                <a:latin typeface="Arial"/>
                <a:ea typeface="Arial"/>
                <a:cs typeface="Arial"/>
                <a:sym typeface="Arial"/>
              </a:rPr>
              <a:t>Square root Transformation</a:t>
            </a:r>
            <a:r>
              <a:rPr lang="en-US" sz="1500" b="0" i="0" u="none" strike="noStrike" cap="none">
                <a:solidFill>
                  <a:srgbClr val="212121"/>
                </a:solidFill>
                <a:highlight>
                  <a:srgbClr val="FFFFFF"/>
                </a:highlight>
                <a:latin typeface="Arial"/>
                <a:ea typeface="Arial"/>
                <a:cs typeface="Arial"/>
                <a:sym typeface="Arial"/>
              </a:rPr>
              <a:t> to handle skewness in numerical features.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6" descr="A screenshot of a graph&#10;&#10;Description automatically generated"/>
          <p:cNvPicPr preferRelativeResize="0"/>
          <p:nvPr/>
        </p:nvPicPr>
        <p:blipFill rotWithShape="1">
          <a:blip r:embed="rId3">
            <a:alphaModFix/>
          </a:blip>
          <a:srcRect l="4708" t="79795" r="65548"/>
          <a:stretch/>
        </p:blipFill>
        <p:spPr>
          <a:xfrm>
            <a:off x="8308255" y="589778"/>
            <a:ext cx="2071724" cy="2389396"/>
          </a:xfrm>
          <a:prstGeom prst="rect">
            <a:avLst/>
          </a:prstGeom>
          <a:noFill/>
          <a:ln w="9525" cap="flat" cmpd="sng">
            <a:solidFill>
              <a:srgbClr val="2A4A48"/>
            </a:solidFill>
            <a:prstDash val="solid"/>
            <a:round/>
            <a:headEnd type="none" w="sm" len="sm"/>
            <a:tailEnd type="none" w="sm" len="sm"/>
          </a:ln>
        </p:spPr>
      </p:pic>
      <p:pic>
        <p:nvPicPr>
          <p:cNvPr id="184" name="Google Shape;184;p6" descr="A screenshot of a graph&#10;&#10;Description automatically generated"/>
          <p:cNvPicPr preferRelativeResize="0"/>
          <p:nvPr/>
        </p:nvPicPr>
        <p:blipFill rotWithShape="1">
          <a:blip r:embed="rId3">
            <a:alphaModFix/>
          </a:blip>
          <a:srcRect t="39620" b="20075"/>
          <a:stretch/>
        </p:blipFill>
        <p:spPr>
          <a:xfrm>
            <a:off x="613019" y="852948"/>
            <a:ext cx="7529360" cy="5152104"/>
          </a:xfrm>
          <a:prstGeom prst="rect">
            <a:avLst/>
          </a:prstGeom>
          <a:noFill/>
          <a:ln w="9525" cap="flat" cmpd="sng">
            <a:solidFill>
              <a:srgbClr val="2A4A48"/>
            </a:solidFill>
            <a:prstDash val="solid"/>
            <a:round/>
            <a:headEnd type="none" w="sm" len="sm"/>
            <a:tailEnd type="none" w="sm" len="sm"/>
          </a:ln>
        </p:spPr>
      </p:pic>
      <p:pic>
        <p:nvPicPr>
          <p:cNvPr id="185" name="Google Shape;185;p6" descr="A screenshot of a graph&#10;&#10;Description automatically generated"/>
          <p:cNvPicPr preferRelativeResize="0"/>
          <p:nvPr/>
        </p:nvPicPr>
        <p:blipFill rotWithShape="1">
          <a:blip r:embed="rId3">
            <a:alphaModFix/>
          </a:blip>
          <a:srcRect l="37880" t="79795" r="33295"/>
          <a:stretch/>
        </p:blipFill>
        <p:spPr>
          <a:xfrm>
            <a:off x="8939018" y="2196707"/>
            <a:ext cx="2071724" cy="2465591"/>
          </a:xfrm>
          <a:prstGeom prst="rect">
            <a:avLst/>
          </a:prstGeom>
          <a:noFill/>
          <a:ln w="9525" cap="flat" cmpd="sng">
            <a:solidFill>
              <a:srgbClr val="2A4A48"/>
            </a:solidFill>
            <a:prstDash val="solid"/>
            <a:round/>
            <a:headEnd type="none" w="sm" len="sm"/>
            <a:tailEnd type="none" w="sm" len="sm"/>
          </a:ln>
        </p:spPr>
      </p:pic>
      <p:pic>
        <p:nvPicPr>
          <p:cNvPr id="186" name="Google Shape;186;p6" descr="A screenshot of a graph&#10;&#10;Description automatically generated"/>
          <p:cNvPicPr preferRelativeResize="0"/>
          <p:nvPr/>
        </p:nvPicPr>
        <p:blipFill rotWithShape="1">
          <a:blip r:embed="rId3">
            <a:alphaModFix/>
          </a:blip>
          <a:srcRect l="71176" t="79795"/>
          <a:stretch/>
        </p:blipFill>
        <p:spPr>
          <a:xfrm>
            <a:off x="9507257" y="3878826"/>
            <a:ext cx="2071724" cy="2465589"/>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7"/>
          <p:cNvSpPr txBox="1">
            <a:spLocks noGrp="1"/>
          </p:cNvSpPr>
          <p:nvPr>
            <p:ph type="title"/>
          </p:nvPr>
        </p:nvSpPr>
        <p:spPr>
          <a:xfrm>
            <a:off x="5486399" y="535141"/>
            <a:ext cx="6154995" cy="772549"/>
          </a:xfrm>
          <a:prstGeom prst="rect">
            <a:avLst/>
          </a:prstGeom>
          <a:noFill/>
          <a:ln w="9525" cap="flat" cmpd="sng">
            <a:solidFill>
              <a:srgbClr val="2A4A48"/>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000"/>
              <a:buFont typeface="EB Garamond"/>
              <a:buNone/>
            </a:pPr>
            <a:r>
              <a:rPr lang="en-US" sz="4000"/>
              <a:t>Exploratory Data Analysis</a:t>
            </a:r>
            <a:endParaRPr sz="4000"/>
          </a:p>
        </p:txBody>
      </p:sp>
      <p:sp>
        <p:nvSpPr>
          <p:cNvPr id="192" name="Google Shape;192;p7"/>
          <p:cNvSpPr txBox="1">
            <a:spLocks noGrp="1"/>
          </p:cNvSpPr>
          <p:nvPr>
            <p:ph type="body" idx="1"/>
          </p:nvPr>
        </p:nvSpPr>
        <p:spPr>
          <a:xfrm>
            <a:off x="287101" y="535141"/>
            <a:ext cx="5083276" cy="3638242"/>
          </a:xfrm>
          <a:prstGeom prst="rect">
            <a:avLst/>
          </a:prstGeom>
          <a:noFill/>
          <a:ln w="9525" cap="flat" cmpd="sng">
            <a:solidFill>
              <a:srgbClr val="2A4A48"/>
            </a:solidFill>
            <a:prstDash val="solid"/>
            <a:round/>
            <a:headEnd type="none" w="sm" len="sm"/>
            <a:tailEnd type="none" w="sm" len="sm"/>
          </a:ln>
        </p:spPr>
        <p:txBody>
          <a:bodyPr spcFirstLastPara="1" wrap="square" lIns="91425" tIns="45700" rIns="91425" bIns="45700" anchor="t" anchorCtr="0">
            <a:normAutofit/>
          </a:bodyPr>
          <a:lstStyle/>
          <a:p>
            <a:pPr marL="228600" lvl="0" indent="0" algn="l" rtl="0">
              <a:lnSpc>
                <a:spcPct val="110000"/>
              </a:lnSpc>
              <a:spcBef>
                <a:spcPts val="0"/>
              </a:spcBef>
              <a:spcAft>
                <a:spcPts val="0"/>
              </a:spcAft>
              <a:buSzPts val="1280"/>
              <a:buNone/>
            </a:pPr>
            <a:r>
              <a:rPr lang="en-US" sz="1600" b="1">
                <a:solidFill>
                  <a:schemeClr val="dk1"/>
                </a:solidFill>
                <a:latin typeface="Arial"/>
                <a:ea typeface="Arial"/>
                <a:cs typeface="Arial"/>
                <a:sym typeface="Arial"/>
              </a:rPr>
              <a:t>Weekly Sales over time:</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Sales tend to rise significantly during special offers and holidays (e.g., Black Friday, Christmas, New Year), followed by a decline. </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Subsequently, sales regain momentum in certain months.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November indicates reduced buying, possibly due to anticipation of upcoming sales.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December 2013 data appears incomplete; despite the spike, overall sales did not reach substantial heights due to limited available data.</a:t>
            </a:r>
            <a:endParaRPr/>
          </a:p>
          <a:p>
            <a:pPr marL="457200" lvl="0" indent="-147320" algn="l" rtl="0">
              <a:lnSpc>
                <a:spcPct val="110000"/>
              </a:lnSpc>
              <a:spcBef>
                <a:spcPts val="1000"/>
              </a:spcBef>
              <a:spcAft>
                <a:spcPts val="0"/>
              </a:spcAft>
              <a:buSzPts val="1280"/>
              <a:buFont typeface="Noto Sans Symbols"/>
              <a:buNone/>
            </a:pPr>
            <a:endParaRPr sz="1600">
              <a:solidFill>
                <a:schemeClr val="dk1"/>
              </a:solidFill>
              <a:latin typeface="Arial"/>
              <a:ea typeface="Arial"/>
              <a:cs typeface="Arial"/>
              <a:sym typeface="Arial"/>
            </a:endParaRPr>
          </a:p>
        </p:txBody>
      </p:sp>
      <p:pic>
        <p:nvPicPr>
          <p:cNvPr id="193" name="Google Shape;193;p7" descr="A graph of a number of sales&#10;&#10;Description automatically generated with medium confidence"/>
          <p:cNvPicPr preferRelativeResize="0"/>
          <p:nvPr/>
        </p:nvPicPr>
        <p:blipFill rotWithShape="1">
          <a:blip r:embed="rId3">
            <a:alphaModFix/>
          </a:blip>
          <a:srcRect/>
          <a:stretch/>
        </p:blipFill>
        <p:spPr>
          <a:xfrm>
            <a:off x="5370377" y="1345304"/>
            <a:ext cx="3645804" cy="2905150"/>
          </a:xfrm>
          <a:prstGeom prst="rect">
            <a:avLst/>
          </a:prstGeom>
          <a:noFill/>
          <a:ln w="9525" cap="flat" cmpd="sng">
            <a:solidFill>
              <a:srgbClr val="2A4A48"/>
            </a:solidFill>
            <a:prstDash val="solid"/>
            <a:round/>
            <a:headEnd type="none" w="sm" len="sm"/>
            <a:tailEnd type="none" w="sm" len="sm"/>
          </a:ln>
        </p:spPr>
      </p:pic>
      <p:pic>
        <p:nvPicPr>
          <p:cNvPr id="194" name="Google Shape;194;p7" descr="A graph showing the number of sales per year&#10;&#10;Description automatically generated"/>
          <p:cNvPicPr preferRelativeResize="0"/>
          <p:nvPr/>
        </p:nvPicPr>
        <p:blipFill rotWithShape="1">
          <a:blip r:embed="rId4">
            <a:alphaModFix/>
          </a:blip>
          <a:srcRect/>
          <a:stretch/>
        </p:blipFill>
        <p:spPr>
          <a:xfrm>
            <a:off x="9094838" y="1481060"/>
            <a:ext cx="2996095" cy="2350384"/>
          </a:xfrm>
          <a:prstGeom prst="rect">
            <a:avLst/>
          </a:prstGeom>
          <a:noFill/>
          <a:ln w="9525" cap="flat" cmpd="sng">
            <a:solidFill>
              <a:srgbClr val="2A4A48"/>
            </a:solidFill>
            <a:prstDash val="solid"/>
            <a:round/>
            <a:headEnd type="none" w="sm" len="sm"/>
            <a:tailEnd type="none" w="sm" len="sm"/>
          </a:ln>
        </p:spPr>
      </p:pic>
      <p:pic>
        <p:nvPicPr>
          <p:cNvPr id="195" name="Google Shape;195;p7" descr="A graph with red lines&#10;&#10;Description automatically generated"/>
          <p:cNvPicPr preferRelativeResize="0"/>
          <p:nvPr/>
        </p:nvPicPr>
        <p:blipFill rotWithShape="1">
          <a:blip r:embed="rId5">
            <a:alphaModFix/>
          </a:blip>
          <a:srcRect/>
          <a:stretch/>
        </p:blipFill>
        <p:spPr>
          <a:xfrm>
            <a:off x="1028261" y="4327525"/>
            <a:ext cx="10135478" cy="2387807"/>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8"/>
          <p:cNvSpPr txBox="1">
            <a:spLocks noGrp="1"/>
          </p:cNvSpPr>
          <p:nvPr>
            <p:ph type="title"/>
          </p:nvPr>
        </p:nvSpPr>
        <p:spPr>
          <a:xfrm>
            <a:off x="491902" y="681982"/>
            <a:ext cx="6154995" cy="772549"/>
          </a:xfrm>
          <a:prstGeom prst="rect">
            <a:avLst/>
          </a:prstGeom>
          <a:noFill/>
          <a:ln w="9525" cap="flat" cmpd="sng">
            <a:solidFill>
              <a:srgbClr val="2A4A48"/>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000"/>
              <a:buFont typeface="EB Garamond"/>
              <a:buNone/>
            </a:pPr>
            <a:r>
              <a:rPr lang="en-US" sz="4000"/>
              <a:t>Exploratory Data Analysis</a:t>
            </a:r>
            <a:endParaRPr sz="4000"/>
          </a:p>
        </p:txBody>
      </p:sp>
      <p:pic>
        <p:nvPicPr>
          <p:cNvPr id="201" name="Google Shape;201;p8" descr="A graph of a graph showing the temperature and the price of the price&#10;&#10;Description automatically generated with medium confidence"/>
          <p:cNvPicPr preferRelativeResize="0"/>
          <p:nvPr/>
        </p:nvPicPr>
        <p:blipFill rotWithShape="1">
          <a:blip r:embed="rId3">
            <a:alphaModFix/>
          </a:blip>
          <a:srcRect/>
          <a:stretch/>
        </p:blipFill>
        <p:spPr>
          <a:xfrm>
            <a:off x="231392" y="1688765"/>
            <a:ext cx="6474208" cy="4236407"/>
          </a:xfrm>
          <a:prstGeom prst="rect">
            <a:avLst/>
          </a:prstGeom>
          <a:noFill/>
          <a:ln w="9525" cap="flat" cmpd="sng">
            <a:solidFill>
              <a:srgbClr val="2A4A48"/>
            </a:solidFill>
            <a:prstDash val="solid"/>
            <a:round/>
            <a:headEnd type="none" w="sm" len="sm"/>
            <a:tailEnd type="none" w="sm" len="sm"/>
          </a:ln>
        </p:spPr>
      </p:pic>
      <p:sp>
        <p:nvSpPr>
          <p:cNvPr id="202" name="Google Shape;202;p8"/>
          <p:cNvSpPr txBox="1"/>
          <p:nvPr/>
        </p:nvSpPr>
        <p:spPr>
          <a:xfrm>
            <a:off x="6705600" y="797510"/>
            <a:ext cx="4994498"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November-December Sales Trend: </a:t>
            </a:r>
            <a:r>
              <a:rPr lang="en-US" sz="1600" b="0" i="0" u="none" strike="noStrike" cap="none">
                <a:solidFill>
                  <a:schemeClr val="dk1"/>
                </a:solidFill>
                <a:latin typeface="Arial"/>
                <a:ea typeface="Arial"/>
                <a:cs typeface="Arial"/>
                <a:sym typeface="Arial"/>
              </a:rPr>
              <a:t>There's a noticeable spike in weekly sales during November and December; however, overall sales haven't shown a consistent increase throughout the year.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Holiday Sales Peaks: </a:t>
            </a:r>
            <a:r>
              <a:rPr lang="en-US" sz="1600" b="0" i="0" u="none" strike="noStrike" cap="none">
                <a:solidFill>
                  <a:schemeClr val="dk1"/>
                </a:solidFill>
                <a:latin typeface="Arial"/>
                <a:ea typeface="Arial"/>
                <a:cs typeface="Arial"/>
                <a:sym typeface="Arial"/>
              </a:rPr>
              <a:t>Sales figures experience significant peaks during weeks close to holidays.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Fuel and Consumer Price Index: </a:t>
            </a:r>
            <a:r>
              <a:rPr lang="en-US" sz="1600" b="0" i="0" u="none" strike="noStrike" cap="none">
                <a:solidFill>
                  <a:schemeClr val="dk1"/>
                </a:solidFill>
                <a:latin typeface="Arial"/>
                <a:ea typeface="Arial"/>
                <a:cs typeface="Arial"/>
                <a:sym typeface="Arial"/>
              </a:rPr>
              <a:t>Both fuel prices and the Consumer Price Index have shown a steady increase over the course of the year.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Unemployment Trend: </a:t>
            </a:r>
            <a:r>
              <a:rPr lang="en-US" sz="1600" b="0" i="0" u="none" strike="noStrike" cap="none">
                <a:solidFill>
                  <a:schemeClr val="dk1"/>
                </a:solidFill>
                <a:latin typeface="Arial"/>
                <a:ea typeface="Arial"/>
                <a:cs typeface="Arial"/>
                <a:sym typeface="Arial"/>
              </a:rPr>
              <a:t>The unemployment rate has steadily decreased each year.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Temperature Pattern: </a:t>
            </a:r>
            <a:r>
              <a:rPr lang="en-US" sz="1600" b="0" i="0" u="none" strike="noStrike" cap="none">
                <a:solidFill>
                  <a:schemeClr val="dk1"/>
                </a:solidFill>
                <a:latin typeface="Arial"/>
                <a:ea typeface="Arial"/>
                <a:cs typeface="Arial"/>
                <a:sym typeface="Arial"/>
              </a:rPr>
              <a:t>Temperature data exhibits a random walk, indicating no clear pattern or trend over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In conclusion, understanding the dynamics of sales patterns, store types, and departmental performance is essential for effective business strategies. The data provides valuable insights for optimizing sales approaches, managing inventory, and tailoring marketing efforts to maximize revenue and enhance customer satisfaction.</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9" descr="A graph of a number of different colored squares&#10;&#10;Description automatically generated"/>
          <p:cNvPicPr preferRelativeResize="0"/>
          <p:nvPr/>
        </p:nvPicPr>
        <p:blipFill rotWithShape="1">
          <a:blip r:embed="rId3">
            <a:alphaModFix/>
          </a:blip>
          <a:srcRect/>
          <a:stretch/>
        </p:blipFill>
        <p:spPr>
          <a:xfrm>
            <a:off x="516710" y="4070555"/>
            <a:ext cx="3169090" cy="2486096"/>
          </a:xfrm>
          <a:prstGeom prst="rect">
            <a:avLst/>
          </a:prstGeom>
          <a:noFill/>
          <a:ln w="9525" cap="flat" cmpd="sng">
            <a:solidFill>
              <a:srgbClr val="2A4A48"/>
            </a:solidFill>
            <a:prstDash val="solid"/>
            <a:round/>
            <a:headEnd type="none" w="sm" len="sm"/>
            <a:tailEnd type="none" w="sm" len="sm"/>
          </a:ln>
        </p:spPr>
      </p:pic>
      <p:pic>
        <p:nvPicPr>
          <p:cNvPr id="208" name="Google Shape;208;p9" descr="A graph of different colored bars&#10;&#10;Description automatically generated"/>
          <p:cNvPicPr preferRelativeResize="0"/>
          <p:nvPr/>
        </p:nvPicPr>
        <p:blipFill rotWithShape="1">
          <a:blip r:embed="rId4">
            <a:alphaModFix/>
          </a:blip>
          <a:srcRect/>
          <a:stretch/>
        </p:blipFill>
        <p:spPr>
          <a:xfrm>
            <a:off x="208730" y="526040"/>
            <a:ext cx="7834056" cy="1695726"/>
          </a:xfrm>
          <a:prstGeom prst="rect">
            <a:avLst/>
          </a:prstGeom>
          <a:noFill/>
          <a:ln w="9525" cap="flat" cmpd="sng">
            <a:solidFill>
              <a:srgbClr val="2A4A48"/>
            </a:solidFill>
            <a:prstDash val="solid"/>
            <a:round/>
            <a:headEnd type="none" w="sm" len="sm"/>
            <a:tailEnd type="none" w="sm" len="sm"/>
          </a:ln>
        </p:spPr>
      </p:pic>
      <p:pic>
        <p:nvPicPr>
          <p:cNvPr id="209" name="Google Shape;209;p9" descr="A graph of a bar graph&#10;&#10;Description automatically generated with medium confidence"/>
          <p:cNvPicPr preferRelativeResize="0"/>
          <p:nvPr/>
        </p:nvPicPr>
        <p:blipFill rotWithShape="1">
          <a:blip r:embed="rId5">
            <a:alphaModFix/>
          </a:blip>
          <a:srcRect/>
          <a:stretch/>
        </p:blipFill>
        <p:spPr>
          <a:xfrm>
            <a:off x="3490451" y="2268420"/>
            <a:ext cx="8701549" cy="1883500"/>
          </a:xfrm>
          <a:prstGeom prst="rect">
            <a:avLst/>
          </a:prstGeom>
          <a:noFill/>
          <a:ln w="9525" cap="flat" cmpd="sng">
            <a:solidFill>
              <a:srgbClr val="2A4A48"/>
            </a:solidFill>
            <a:prstDash val="solid"/>
            <a:round/>
            <a:headEnd type="none" w="sm" len="sm"/>
            <a:tailEnd type="none" w="sm" len="sm"/>
          </a:ln>
        </p:spPr>
      </p:pic>
      <p:sp>
        <p:nvSpPr>
          <p:cNvPr id="210" name="Google Shape;210;p9"/>
          <p:cNvSpPr txBox="1"/>
          <p:nvPr/>
        </p:nvSpPr>
        <p:spPr>
          <a:xfrm>
            <a:off x="8141107" y="589073"/>
            <a:ext cx="3637937"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Which stores are the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highest earners: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Store number 20 and 4 were identified as the top earners based on their weekly sales, while store number 44 and 5 emerged as the least profitable.</a:t>
            </a:r>
            <a:endParaRPr sz="1400" b="0" i="0" u="none" strike="noStrike" cap="none">
              <a:solidFill>
                <a:srgbClr val="000000"/>
              </a:solidFill>
              <a:latin typeface="Arial"/>
              <a:ea typeface="Arial"/>
              <a:cs typeface="Arial"/>
              <a:sym typeface="Arial"/>
            </a:endParaRPr>
          </a:p>
        </p:txBody>
      </p:sp>
      <p:sp>
        <p:nvSpPr>
          <p:cNvPr id="211" name="Google Shape;211;p9"/>
          <p:cNvSpPr txBox="1"/>
          <p:nvPr/>
        </p:nvSpPr>
        <p:spPr>
          <a:xfrm>
            <a:off x="479581" y="2268420"/>
            <a:ext cx="3048000"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Which departments are the highest earners: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Certain departments (1-15, 38, 40, 72, and 90-95) demonstrate notably higher weekly sales, with an average increase of 25%.</a:t>
            </a:r>
            <a:endParaRPr sz="1400" b="0" i="0" u="none" strike="noStrike" cap="none">
              <a:solidFill>
                <a:srgbClr val="000000"/>
              </a:solidFill>
              <a:latin typeface="Arial"/>
              <a:ea typeface="Arial"/>
              <a:cs typeface="Arial"/>
              <a:sym typeface="Arial"/>
            </a:endParaRPr>
          </a:p>
        </p:txBody>
      </p:sp>
      <p:sp>
        <p:nvSpPr>
          <p:cNvPr id="212" name="Google Shape;212;p9"/>
          <p:cNvSpPr txBox="1"/>
          <p:nvPr/>
        </p:nvSpPr>
        <p:spPr>
          <a:xfrm>
            <a:off x="3800166" y="4282551"/>
            <a:ext cx="2915267"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Which type of store is the highest earner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Store type A, succeeded by store type B, were identified as the store types with the highest earnings, while store type C exhibited the lowest weekly sales.</a:t>
            </a:r>
            <a:endParaRPr sz="1400" b="0" i="0" u="none" strike="noStrike" cap="none">
              <a:solidFill>
                <a:srgbClr val="000000"/>
              </a:solidFill>
              <a:latin typeface="Arial"/>
              <a:ea typeface="Arial"/>
              <a:cs typeface="Arial"/>
              <a:sym typeface="Arial"/>
            </a:endParaRPr>
          </a:p>
        </p:txBody>
      </p:sp>
      <p:pic>
        <p:nvPicPr>
          <p:cNvPr id="213" name="Google Shape;213;p9" descr="A graph of different colored bars&#10;&#10;Description automatically generated"/>
          <p:cNvPicPr preferRelativeResize="0"/>
          <p:nvPr/>
        </p:nvPicPr>
        <p:blipFill rotWithShape="1">
          <a:blip r:embed="rId6">
            <a:alphaModFix/>
          </a:blip>
          <a:srcRect/>
          <a:stretch/>
        </p:blipFill>
        <p:spPr>
          <a:xfrm>
            <a:off x="6804471" y="4198574"/>
            <a:ext cx="2476630" cy="2465098"/>
          </a:xfrm>
          <a:prstGeom prst="rect">
            <a:avLst/>
          </a:prstGeom>
          <a:noFill/>
          <a:ln w="9525" cap="flat" cmpd="sng">
            <a:solidFill>
              <a:srgbClr val="2A4A48"/>
            </a:solidFill>
            <a:prstDash val="solid"/>
            <a:round/>
            <a:headEnd type="none" w="sm" len="sm"/>
            <a:tailEnd type="none" w="sm" len="sm"/>
          </a:ln>
        </p:spPr>
      </p:pic>
      <p:sp>
        <p:nvSpPr>
          <p:cNvPr id="214" name="Google Shape;214;p9"/>
          <p:cNvSpPr txBox="1"/>
          <p:nvPr/>
        </p:nvSpPr>
        <p:spPr>
          <a:xfrm>
            <a:off x="9393039" y="4261607"/>
            <a:ext cx="2386005"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Trend of markdown across types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Markdown1 is the highest for Type A, B while markdown 5 is the highest for type C</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10" descr="A graph showing a number of colored lines&#10;&#10;Description automatically generated with medium confidence"/>
          <p:cNvPicPr preferRelativeResize="0"/>
          <p:nvPr/>
        </p:nvPicPr>
        <p:blipFill rotWithShape="1">
          <a:blip r:embed="rId3">
            <a:alphaModFix/>
          </a:blip>
          <a:srcRect/>
          <a:stretch/>
        </p:blipFill>
        <p:spPr>
          <a:xfrm>
            <a:off x="4211810" y="3612060"/>
            <a:ext cx="7854312" cy="2777269"/>
          </a:xfrm>
          <a:prstGeom prst="rect">
            <a:avLst/>
          </a:prstGeom>
          <a:noFill/>
          <a:ln w="9525" cap="flat" cmpd="sng">
            <a:solidFill>
              <a:srgbClr val="2A4A48"/>
            </a:solidFill>
            <a:prstDash val="solid"/>
            <a:round/>
            <a:headEnd type="none" w="sm" len="sm"/>
            <a:tailEnd type="none" w="sm" len="sm"/>
          </a:ln>
        </p:spPr>
      </p:pic>
      <p:pic>
        <p:nvPicPr>
          <p:cNvPr id="220" name="Google Shape;220;p10" descr="A graph of colored lines&#10;&#10;Description automatically generated with medium confidence"/>
          <p:cNvPicPr preferRelativeResize="0"/>
          <p:nvPr/>
        </p:nvPicPr>
        <p:blipFill rotWithShape="1">
          <a:blip r:embed="rId4">
            <a:alphaModFix/>
          </a:blip>
          <a:srcRect/>
          <a:stretch/>
        </p:blipFill>
        <p:spPr>
          <a:xfrm>
            <a:off x="1111045" y="287158"/>
            <a:ext cx="6695949" cy="3503694"/>
          </a:xfrm>
          <a:prstGeom prst="rect">
            <a:avLst/>
          </a:prstGeom>
          <a:noFill/>
          <a:ln w="9525" cap="flat" cmpd="sng">
            <a:solidFill>
              <a:srgbClr val="2A4A48"/>
            </a:solidFill>
            <a:prstDash val="solid"/>
            <a:round/>
            <a:headEnd type="none" w="sm" len="sm"/>
            <a:tailEnd type="none" w="sm" len="sm"/>
          </a:ln>
        </p:spPr>
      </p:pic>
      <p:sp>
        <p:nvSpPr>
          <p:cNvPr id="221" name="Google Shape;221;p10"/>
          <p:cNvSpPr txBox="1"/>
          <p:nvPr/>
        </p:nvSpPr>
        <p:spPr>
          <a:xfrm>
            <a:off x="8404462" y="1080036"/>
            <a:ext cx="2971461"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Trend of markdown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across Months: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Markdown3 is the highest in November and markdown 1 is highest in March</a:t>
            </a:r>
            <a:endParaRPr sz="1600" b="0" i="0" u="none" strike="noStrike" cap="none">
              <a:solidFill>
                <a:schemeClr val="dk1"/>
              </a:solidFill>
              <a:latin typeface="Arial"/>
              <a:ea typeface="Arial"/>
              <a:cs typeface="Arial"/>
              <a:sym typeface="Arial"/>
            </a:endParaRPr>
          </a:p>
        </p:txBody>
      </p:sp>
      <p:sp>
        <p:nvSpPr>
          <p:cNvPr id="222" name="Google Shape;222;p10"/>
          <p:cNvSpPr txBox="1"/>
          <p:nvPr/>
        </p:nvSpPr>
        <p:spPr>
          <a:xfrm>
            <a:off x="705240" y="3969644"/>
            <a:ext cx="4800825" cy="2062103"/>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Trend of markdown across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graph shows sporadic and significant spikes in markdowns across different categories, with major peaks occurring around mid-2011 and late 2011 to early 2012. These markdowns are likely linked to specific events or seasons, with more frequent but smaller markdowns appearing towards the end of the timeline.</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p11" descr="A chart with numbers and a grid&#10;&#10;Description automatically generated with medium confidence"/>
          <p:cNvPicPr preferRelativeResize="0"/>
          <p:nvPr/>
        </p:nvPicPr>
        <p:blipFill rotWithShape="1">
          <a:blip r:embed="rId3">
            <a:alphaModFix/>
          </a:blip>
          <a:srcRect/>
          <a:stretch/>
        </p:blipFill>
        <p:spPr>
          <a:xfrm>
            <a:off x="1777415" y="264874"/>
            <a:ext cx="9849420" cy="4936389"/>
          </a:xfrm>
          <a:prstGeom prst="rect">
            <a:avLst/>
          </a:prstGeom>
          <a:noFill/>
          <a:ln w="9525" cap="flat" cmpd="sng">
            <a:solidFill>
              <a:srgbClr val="2A4A48"/>
            </a:solidFill>
            <a:prstDash val="solid"/>
            <a:round/>
            <a:headEnd type="none" w="sm" len="sm"/>
            <a:tailEnd type="none" w="sm" len="sm"/>
          </a:ln>
        </p:spPr>
      </p:pic>
      <p:sp>
        <p:nvSpPr>
          <p:cNvPr id="228" name="Google Shape;228;p11"/>
          <p:cNvSpPr txBox="1"/>
          <p:nvPr/>
        </p:nvSpPr>
        <p:spPr>
          <a:xfrm>
            <a:off x="787962" y="5270102"/>
            <a:ext cx="7915087"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Correlation of factors and weekly sales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Weekly sales do not exhibit a strong correlation with other parameters.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Consumer Price Index (CPI) and Unemployment display a negative correlation.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Unemployment and Fuel Price are also negatively correlated.</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1166351" y="681037"/>
            <a:ext cx="9859297" cy="87246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Anomaly Detection in Sales Data</a:t>
            </a:r>
            <a:endParaRPr/>
          </a:p>
        </p:txBody>
      </p:sp>
      <p:pic>
        <p:nvPicPr>
          <p:cNvPr id="234" name="Google Shape;234;p12"/>
          <p:cNvPicPr preferRelativeResize="0"/>
          <p:nvPr/>
        </p:nvPicPr>
        <p:blipFill rotWithShape="1">
          <a:blip r:embed="rId3">
            <a:alphaModFix/>
          </a:blip>
          <a:srcRect/>
          <a:stretch/>
        </p:blipFill>
        <p:spPr>
          <a:xfrm>
            <a:off x="218768" y="1553497"/>
            <a:ext cx="10039676" cy="1281480"/>
          </a:xfrm>
          <a:prstGeom prst="rect">
            <a:avLst/>
          </a:prstGeom>
          <a:noFill/>
          <a:ln>
            <a:noFill/>
          </a:ln>
        </p:spPr>
      </p:pic>
      <p:pic>
        <p:nvPicPr>
          <p:cNvPr id="235" name="Google Shape;235;p12"/>
          <p:cNvPicPr preferRelativeResize="0"/>
          <p:nvPr/>
        </p:nvPicPr>
        <p:blipFill rotWithShape="1">
          <a:blip r:embed="rId4">
            <a:alphaModFix/>
          </a:blip>
          <a:srcRect/>
          <a:stretch/>
        </p:blipFill>
        <p:spPr>
          <a:xfrm>
            <a:off x="10280330" y="1403660"/>
            <a:ext cx="1775158" cy="1605712"/>
          </a:xfrm>
          <a:prstGeom prst="rect">
            <a:avLst/>
          </a:prstGeom>
          <a:noFill/>
          <a:ln>
            <a:noFill/>
          </a:ln>
        </p:spPr>
      </p:pic>
      <p:sp>
        <p:nvSpPr>
          <p:cNvPr id="236" name="Google Shape;236;p12"/>
          <p:cNvSpPr txBox="1"/>
          <p:nvPr/>
        </p:nvSpPr>
        <p:spPr>
          <a:xfrm>
            <a:off x="498083" y="2834977"/>
            <a:ext cx="6342946"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Identify unusual sales patterns across stores and departments.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Investigate potential causes (e.g., holidays, markdowns, economic indicators).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Implement anomaly handling strategies to clean the data for further analysis.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What is Anomaly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Anomalies are deviations from expected behavior or patterns in data, and their presence can indicate issues or security threats.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Method used for Detecting Anomalies in Retail Data</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Descriptive statistics are among the foundational methods for anomaly detection in retail. Techniques like mean, median, and standard deviation can be used to calculate summary statistics, which help identify point anomalies.</a:t>
            </a:r>
            <a:endParaRPr sz="1400" b="0" i="0" u="none" strike="noStrike" cap="none">
              <a:solidFill>
                <a:srgbClr val="000000"/>
              </a:solidFill>
              <a:latin typeface="Arial"/>
              <a:ea typeface="Arial"/>
              <a:cs typeface="Arial"/>
              <a:sym typeface="Arial"/>
            </a:endParaRPr>
          </a:p>
        </p:txBody>
      </p:sp>
      <p:sp>
        <p:nvSpPr>
          <p:cNvPr id="237" name="Google Shape;237;p12"/>
          <p:cNvSpPr txBox="1"/>
          <p:nvPr/>
        </p:nvSpPr>
        <p:spPr>
          <a:xfrm>
            <a:off x="6862915" y="2942698"/>
            <a:ext cx="4758814" cy="3323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Mitigation Strategies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There are a number of strategies that can be used to mitigate the impact of anomalies without removing the data points. These strategies include: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Data cleaning: This involves identifying and correcting errors in the data. This can be done manually or using automated tools.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Data normalization: This involves transforming the data so that it is distributed normally. This can help to identify anomalies more easily.</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Data imputation: This involves filling in missing data points. This can be done using statistical methods or machine learning algorithms.</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3"/>
          <p:cNvSpPr txBox="1">
            <a:spLocks noGrp="1"/>
          </p:cNvSpPr>
          <p:nvPr>
            <p:ph type="title"/>
          </p:nvPr>
        </p:nvSpPr>
        <p:spPr>
          <a:xfrm>
            <a:off x="6170358" y="410068"/>
            <a:ext cx="5219699" cy="134929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Time-Based Anomaly Detection</a:t>
            </a:r>
            <a:endParaRPr/>
          </a:p>
        </p:txBody>
      </p:sp>
      <p:sp>
        <p:nvSpPr>
          <p:cNvPr id="243" name="Google Shape;243;p13"/>
          <p:cNvSpPr txBox="1"/>
          <p:nvPr/>
        </p:nvSpPr>
        <p:spPr>
          <a:xfrm>
            <a:off x="5986616" y="1677395"/>
            <a:ext cx="5486400" cy="47705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Analyze sales trends over time.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Detect seasonal variations and holiday effects on sales.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Use time-series analysis for understanding store and department performance over time.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Detect anomalies in time series Sales data using specialized methods.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Approach:</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Create Rolling Statistics: </a:t>
            </a:r>
            <a:r>
              <a:rPr lang="en-US" sz="1600" b="0" i="0" u="none" strike="noStrike" cap="none">
                <a:solidFill>
                  <a:schemeClr val="dk1"/>
                </a:solidFill>
                <a:latin typeface="Arial"/>
                <a:ea typeface="Arial"/>
                <a:cs typeface="Arial"/>
                <a:sym typeface="Arial"/>
              </a:rPr>
              <a:t>Calculate rolling averages, moving sums, and standard deviations to track data variations over time.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Apply Exponential Smoothing: </a:t>
            </a:r>
            <a:r>
              <a:rPr lang="en-US" sz="1600" b="0" i="0" u="none" strike="noStrike" cap="none">
                <a:solidFill>
                  <a:schemeClr val="dk1"/>
                </a:solidFill>
                <a:latin typeface="Arial"/>
                <a:ea typeface="Arial"/>
                <a:cs typeface="Arial"/>
                <a:sym typeface="Arial"/>
              </a:rPr>
              <a:t>Use exponential moving averages (EMA) and anomaly detection techniques to highlight unusual patterns in time series data.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Highlight Anomalies: </a:t>
            </a:r>
            <a:r>
              <a:rPr lang="en-US" sz="1600" b="0" i="0" u="none" strike="noStrike" cap="none">
                <a:solidFill>
                  <a:schemeClr val="dk1"/>
                </a:solidFill>
                <a:latin typeface="Arial"/>
                <a:ea typeface="Arial"/>
                <a:cs typeface="Arial"/>
                <a:sym typeface="Arial"/>
              </a:rPr>
              <a:t>Set thresholds and visual cues to identify significant deviations from smoothed values, aiding in anomaly detection and trend analysis.</a:t>
            </a:r>
            <a:endParaRPr sz="1400" b="0" i="0" u="none" strike="noStrike" cap="none">
              <a:solidFill>
                <a:srgbClr val="000000"/>
              </a:solidFill>
              <a:latin typeface="Arial"/>
              <a:ea typeface="Arial"/>
              <a:cs typeface="Arial"/>
              <a:sym typeface="Arial"/>
            </a:endParaRPr>
          </a:p>
        </p:txBody>
      </p:sp>
      <p:pic>
        <p:nvPicPr>
          <p:cNvPr id="244" name="Google Shape;244;p13" descr="A graph of weight loss&#10;&#10;Description automatically generated"/>
          <p:cNvPicPr preferRelativeResize="0"/>
          <p:nvPr/>
        </p:nvPicPr>
        <p:blipFill rotWithShape="1">
          <a:blip r:embed="rId3">
            <a:alphaModFix/>
          </a:blip>
          <a:srcRect/>
          <a:stretch/>
        </p:blipFill>
        <p:spPr>
          <a:xfrm>
            <a:off x="191372" y="500119"/>
            <a:ext cx="5495975" cy="2942559"/>
          </a:xfrm>
          <a:prstGeom prst="rect">
            <a:avLst/>
          </a:prstGeom>
          <a:noFill/>
          <a:ln w="9525" cap="flat" cmpd="sng">
            <a:solidFill>
              <a:srgbClr val="2A4A48"/>
            </a:solidFill>
            <a:prstDash val="solid"/>
            <a:round/>
            <a:headEnd type="none" w="sm" len="sm"/>
            <a:tailEnd type="none" w="sm" len="sm"/>
          </a:ln>
        </p:spPr>
      </p:pic>
      <p:pic>
        <p:nvPicPr>
          <p:cNvPr id="245" name="Google Shape;245;p13" descr="A graph of sales data&#10;&#10;Description automatically generated"/>
          <p:cNvPicPr preferRelativeResize="0"/>
          <p:nvPr/>
        </p:nvPicPr>
        <p:blipFill rotWithShape="1">
          <a:blip r:embed="rId4">
            <a:alphaModFix/>
          </a:blip>
          <a:srcRect/>
          <a:stretch/>
        </p:blipFill>
        <p:spPr>
          <a:xfrm>
            <a:off x="200947" y="3531169"/>
            <a:ext cx="5486400" cy="2937432"/>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14" descr="A graph with a red line&#10;&#10;Description automatically generated"/>
          <p:cNvPicPr preferRelativeResize="0"/>
          <p:nvPr/>
        </p:nvPicPr>
        <p:blipFill rotWithShape="1">
          <a:blip r:embed="rId3">
            <a:alphaModFix/>
          </a:blip>
          <a:srcRect/>
          <a:stretch/>
        </p:blipFill>
        <p:spPr>
          <a:xfrm>
            <a:off x="709491" y="1631608"/>
            <a:ext cx="5266954" cy="4361697"/>
          </a:xfrm>
          <a:prstGeom prst="rect">
            <a:avLst/>
          </a:prstGeom>
          <a:noFill/>
          <a:ln w="9525" cap="flat" cmpd="sng">
            <a:solidFill>
              <a:srgbClr val="2A4A48"/>
            </a:solidFill>
            <a:prstDash val="solid"/>
            <a:round/>
            <a:headEnd type="none" w="sm" len="sm"/>
            <a:tailEnd type="none" w="sm" len="sm"/>
          </a:ln>
        </p:spPr>
      </p:pic>
      <p:sp>
        <p:nvSpPr>
          <p:cNvPr id="251" name="Google Shape;251;p14"/>
          <p:cNvSpPr txBox="1"/>
          <p:nvPr/>
        </p:nvSpPr>
        <p:spPr>
          <a:xfrm>
            <a:off x="1254810" y="675539"/>
            <a:ext cx="9443270" cy="74030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accent5"/>
              </a:buClr>
              <a:buSzPts val="4400"/>
              <a:buFont typeface="EB Garamond"/>
              <a:buNone/>
            </a:pPr>
            <a:r>
              <a:rPr lang="en-US" sz="4400" b="0" i="0" u="none" strike="noStrike" cap="none">
                <a:solidFill>
                  <a:schemeClr val="accent5"/>
                </a:solidFill>
                <a:latin typeface="EB Garamond"/>
                <a:ea typeface="EB Garamond"/>
                <a:cs typeface="EB Garamond"/>
                <a:sym typeface="EB Garamond"/>
              </a:rPr>
              <a:t>Customer Segmentation Analysis </a:t>
            </a:r>
            <a:endParaRPr sz="1400" b="0" i="0" u="none" strike="noStrike" cap="none">
              <a:solidFill>
                <a:srgbClr val="000000"/>
              </a:solidFill>
              <a:latin typeface="Arial"/>
              <a:ea typeface="Arial"/>
              <a:cs typeface="Arial"/>
              <a:sym typeface="Arial"/>
            </a:endParaRPr>
          </a:p>
        </p:txBody>
      </p:sp>
      <p:sp>
        <p:nvSpPr>
          <p:cNvPr id="252" name="Google Shape;252;p14"/>
          <p:cNvSpPr txBox="1"/>
          <p:nvPr/>
        </p:nvSpPr>
        <p:spPr>
          <a:xfrm>
            <a:off x="6215557" y="1825602"/>
            <a:ext cx="5266954"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Segment stores or departments based on sales patterns, markdowns, and regional features.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Analyze segment-specific trends and characteristics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What is Segmentation</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Customer segmentation is a critical marketing strategy that involves dividing a customer base into distinct groups based on specific criteria or characteristics.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Algorithm used for Segmentation in Retail Data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Applied the </a:t>
            </a:r>
            <a:r>
              <a:rPr lang="en-US" sz="1600" b="1" i="0" u="none" strike="noStrike" cap="none">
                <a:solidFill>
                  <a:schemeClr val="dk1"/>
                </a:solidFill>
                <a:latin typeface="Arial"/>
                <a:ea typeface="Arial"/>
                <a:cs typeface="Arial"/>
                <a:sym typeface="Arial"/>
              </a:rPr>
              <a:t>K-Means Clustering algorithm </a:t>
            </a:r>
            <a:r>
              <a:rPr lang="en-US" sz="1600" b="0" i="0" u="none" strike="noStrike" cap="none">
                <a:solidFill>
                  <a:schemeClr val="dk1"/>
                </a:solidFill>
                <a:latin typeface="Arial"/>
                <a:ea typeface="Arial"/>
                <a:cs typeface="Arial"/>
                <a:sym typeface="Arial"/>
              </a:rPr>
              <a:t>to segment stores and departments. K-Means Clustering is an unsupervised machine learning technique widely used for grouping data into clusters based on similarity. </a:t>
            </a:r>
            <a:endParaRPr sz="1600" b="0" i="0" u="none" strike="noStrike" cap="non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5"/>
          <p:cNvSpPr txBox="1">
            <a:spLocks noGrp="1"/>
          </p:cNvSpPr>
          <p:nvPr>
            <p:ph type="title"/>
          </p:nvPr>
        </p:nvSpPr>
        <p:spPr>
          <a:xfrm>
            <a:off x="838200" y="563051"/>
            <a:ext cx="10515600" cy="86262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Segmentation Quality Evaluation</a:t>
            </a:r>
            <a:endParaRPr/>
          </a:p>
        </p:txBody>
      </p:sp>
      <p:pic>
        <p:nvPicPr>
          <p:cNvPr id="258" name="Google Shape;258;p15" descr="A screenshot of a graph&#10;&#10;Description automatically generated"/>
          <p:cNvPicPr preferRelativeResize="0"/>
          <p:nvPr/>
        </p:nvPicPr>
        <p:blipFill rotWithShape="1">
          <a:blip r:embed="rId3">
            <a:alphaModFix/>
          </a:blip>
          <a:srcRect/>
          <a:stretch/>
        </p:blipFill>
        <p:spPr>
          <a:xfrm>
            <a:off x="608350" y="1350679"/>
            <a:ext cx="5230762" cy="2458968"/>
          </a:xfrm>
          <a:prstGeom prst="rect">
            <a:avLst/>
          </a:prstGeom>
          <a:noFill/>
          <a:ln w="9525" cap="flat" cmpd="sng">
            <a:solidFill>
              <a:srgbClr val="2A4A48"/>
            </a:solidFill>
            <a:prstDash val="solid"/>
            <a:round/>
            <a:headEnd type="none" w="sm" len="sm"/>
            <a:tailEnd type="none" w="sm" len="sm"/>
          </a:ln>
        </p:spPr>
      </p:pic>
      <p:pic>
        <p:nvPicPr>
          <p:cNvPr id="259" name="Google Shape;259;p15" descr="A screenshot of a graph&#10;&#10;Description automatically generated"/>
          <p:cNvPicPr preferRelativeResize="0"/>
          <p:nvPr/>
        </p:nvPicPr>
        <p:blipFill rotWithShape="1">
          <a:blip r:embed="rId4">
            <a:alphaModFix/>
          </a:blip>
          <a:srcRect/>
          <a:stretch/>
        </p:blipFill>
        <p:spPr>
          <a:xfrm>
            <a:off x="5899355" y="3809647"/>
            <a:ext cx="5230763" cy="2458968"/>
          </a:xfrm>
          <a:prstGeom prst="rect">
            <a:avLst/>
          </a:prstGeom>
          <a:noFill/>
          <a:ln w="9525" cap="flat" cmpd="sng">
            <a:solidFill>
              <a:srgbClr val="2A4A48"/>
            </a:solidFill>
            <a:prstDash val="solid"/>
            <a:round/>
            <a:headEnd type="none" w="sm" len="sm"/>
            <a:tailEnd type="none" w="sm" len="sm"/>
          </a:ln>
        </p:spPr>
      </p:pic>
      <p:pic>
        <p:nvPicPr>
          <p:cNvPr id="260" name="Google Shape;260;p15" descr="A close-up of a graph&#10;&#10;Description automatically generated"/>
          <p:cNvPicPr preferRelativeResize="0"/>
          <p:nvPr/>
        </p:nvPicPr>
        <p:blipFill rotWithShape="1">
          <a:blip r:embed="rId5">
            <a:alphaModFix/>
          </a:blip>
          <a:srcRect/>
          <a:stretch/>
        </p:blipFill>
        <p:spPr>
          <a:xfrm>
            <a:off x="608344" y="3809647"/>
            <a:ext cx="5230768" cy="2458970"/>
          </a:xfrm>
          <a:prstGeom prst="rect">
            <a:avLst/>
          </a:prstGeom>
          <a:noFill/>
          <a:ln w="9525" cap="flat" cmpd="sng">
            <a:solidFill>
              <a:srgbClr val="2A4A48"/>
            </a:solidFill>
            <a:prstDash val="solid"/>
            <a:round/>
            <a:headEnd type="none" w="sm" len="sm"/>
            <a:tailEnd type="none" w="sm" len="sm"/>
          </a:ln>
        </p:spPr>
      </p:pic>
      <p:pic>
        <p:nvPicPr>
          <p:cNvPr id="261" name="Google Shape;261;p15" descr="A screenshot of a graph&#10;&#10;Description automatically generated"/>
          <p:cNvPicPr preferRelativeResize="0"/>
          <p:nvPr/>
        </p:nvPicPr>
        <p:blipFill rotWithShape="1">
          <a:blip r:embed="rId6">
            <a:alphaModFix/>
          </a:blip>
          <a:srcRect/>
          <a:stretch/>
        </p:blipFill>
        <p:spPr>
          <a:xfrm>
            <a:off x="5899355" y="1303336"/>
            <a:ext cx="5230765" cy="2458969"/>
          </a:xfrm>
          <a:prstGeom prst="rect">
            <a:avLst/>
          </a:prstGeom>
          <a:noFill/>
          <a:ln w="9525" cap="flat" cmpd="sng">
            <a:solidFill>
              <a:srgbClr val="2A4A48"/>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16" descr="A screenshot of a graph&#10;&#10;Description automatically generated"/>
          <p:cNvPicPr preferRelativeResize="0"/>
          <p:nvPr/>
        </p:nvPicPr>
        <p:blipFill rotWithShape="1">
          <a:blip r:embed="rId3">
            <a:alphaModFix/>
          </a:blip>
          <a:srcRect/>
          <a:stretch/>
        </p:blipFill>
        <p:spPr>
          <a:xfrm>
            <a:off x="538568" y="563286"/>
            <a:ext cx="5557432" cy="2612534"/>
          </a:xfrm>
          <a:prstGeom prst="rect">
            <a:avLst/>
          </a:prstGeom>
          <a:noFill/>
          <a:ln w="9525" cap="flat" cmpd="sng">
            <a:solidFill>
              <a:srgbClr val="2A4A48"/>
            </a:solidFill>
            <a:prstDash val="solid"/>
            <a:round/>
            <a:headEnd type="none" w="sm" len="sm"/>
            <a:tailEnd type="none" w="sm" len="sm"/>
          </a:ln>
        </p:spPr>
      </p:pic>
      <p:sp>
        <p:nvSpPr>
          <p:cNvPr id="267" name="Google Shape;267;p16"/>
          <p:cNvSpPr txBox="1"/>
          <p:nvPr/>
        </p:nvSpPr>
        <p:spPr>
          <a:xfrm>
            <a:off x="6805529" y="791305"/>
            <a:ext cx="3890104"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venir"/>
                <a:ea typeface="Avenir"/>
                <a:cs typeface="Avenir"/>
                <a:sym typeface="Avenir"/>
              </a:rPr>
              <a:t>The optimal number of cluster is 4 according to silhouette score</a:t>
            </a:r>
            <a:endParaRPr sz="1600" b="1" i="0" u="none" strike="noStrike" cap="none">
              <a:solidFill>
                <a:schemeClr val="dk1"/>
              </a:solidFill>
              <a:latin typeface="Avenir"/>
              <a:ea typeface="Avenir"/>
              <a:cs typeface="Avenir"/>
              <a:sym typeface="Avenir"/>
            </a:endParaRPr>
          </a:p>
        </p:txBody>
      </p:sp>
      <p:sp>
        <p:nvSpPr>
          <p:cNvPr id="268" name="Google Shape;268;p16"/>
          <p:cNvSpPr txBox="1"/>
          <p:nvPr/>
        </p:nvSpPr>
        <p:spPr>
          <a:xfrm>
            <a:off x="765813" y="3247726"/>
            <a:ext cx="10660374"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Significance of Segmentation Quality Evaluation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The significance of segment quality evaluation lies in its ability to assess the effectiveness of clustering techniques in partitioning data into meaningful groups. It allows us to measure how well the clusters represent the underlying structure of the data and how distinct they are from each other.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This information is crucial for making informed decisions and drawing actionable insights from the clustered data, such as personalized marketing strategies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Metric used for Segmentation Quality Evaluation in Retail Data</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Utilized the </a:t>
            </a:r>
            <a:r>
              <a:rPr lang="en-US" sz="1600" b="1" i="0" u="none" strike="noStrike" cap="none">
                <a:solidFill>
                  <a:schemeClr val="dk1"/>
                </a:solidFill>
                <a:latin typeface="Arial"/>
                <a:ea typeface="Arial"/>
                <a:cs typeface="Arial"/>
                <a:sym typeface="Arial"/>
              </a:rPr>
              <a:t>silhouette score metric to evaluate the quality of segments </a:t>
            </a:r>
            <a:r>
              <a:rPr lang="en-US" sz="1600" b="0" i="0" u="none" strike="noStrike" cap="none">
                <a:solidFill>
                  <a:schemeClr val="dk1"/>
                </a:solidFill>
                <a:latin typeface="Arial"/>
                <a:ea typeface="Arial"/>
                <a:cs typeface="Arial"/>
                <a:sym typeface="Arial"/>
              </a:rPr>
              <a:t>and select the most suitable cluster configuration.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 silhouette score closer to 1 indicates better segmentation quality, and after analysis, we determined the optimal number of clusters to be 4 for both store and department segments.</a:t>
            </a:r>
            <a:endParaRPr sz="1400" b="0" i="0" u="none" strike="noStrike" cap="none">
              <a:solidFill>
                <a:srgbClr val="000000"/>
              </a:solidFill>
              <a:latin typeface="Arial"/>
              <a:ea typeface="Arial"/>
              <a:cs typeface="Arial"/>
              <a:sym typeface="Arial"/>
            </a:endParaRPr>
          </a:p>
        </p:txBody>
      </p:sp>
      <p:sp>
        <p:nvSpPr>
          <p:cNvPr id="269" name="Google Shape;269;p16"/>
          <p:cNvSpPr txBox="1"/>
          <p:nvPr/>
        </p:nvSpPr>
        <p:spPr>
          <a:xfrm>
            <a:off x="6245690" y="1755462"/>
            <a:ext cx="5407742"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Evaluate the effectiveness of the customer segmentation.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Use metrics to assess the quality of segments in terms of homogeneity and separation.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7"/>
          <p:cNvSpPr txBox="1">
            <a:spLocks noGrp="1"/>
          </p:cNvSpPr>
          <p:nvPr>
            <p:ph type="title"/>
          </p:nvPr>
        </p:nvSpPr>
        <p:spPr>
          <a:xfrm>
            <a:off x="2139745" y="681037"/>
            <a:ext cx="7912510" cy="77413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Personalization Strategies </a:t>
            </a:r>
            <a:endParaRPr/>
          </a:p>
        </p:txBody>
      </p:sp>
      <p:pic>
        <p:nvPicPr>
          <p:cNvPr id="275" name="Google Shape;275;p17" descr="A graph of colored dots&#10;&#10;Description automatically generated"/>
          <p:cNvPicPr preferRelativeResize="0"/>
          <p:nvPr/>
        </p:nvPicPr>
        <p:blipFill rotWithShape="1">
          <a:blip r:embed="rId3">
            <a:alphaModFix/>
          </a:blip>
          <a:srcRect/>
          <a:stretch/>
        </p:blipFill>
        <p:spPr>
          <a:xfrm>
            <a:off x="713932" y="1350880"/>
            <a:ext cx="4084210" cy="2456621"/>
          </a:xfrm>
          <a:prstGeom prst="rect">
            <a:avLst/>
          </a:prstGeom>
          <a:noFill/>
          <a:ln w="9525" cap="flat" cmpd="sng">
            <a:solidFill>
              <a:schemeClr val="dk1"/>
            </a:solidFill>
            <a:prstDash val="solid"/>
            <a:round/>
            <a:headEnd type="none" w="sm" len="sm"/>
            <a:tailEnd type="none" w="sm" len="sm"/>
          </a:ln>
        </p:spPr>
      </p:pic>
      <p:pic>
        <p:nvPicPr>
          <p:cNvPr id="276" name="Google Shape;276;p17" descr="A graph with red and blue dots&#10;&#10;Description automatically generated"/>
          <p:cNvPicPr preferRelativeResize="0"/>
          <p:nvPr/>
        </p:nvPicPr>
        <p:blipFill rotWithShape="1">
          <a:blip r:embed="rId4">
            <a:alphaModFix/>
          </a:blip>
          <a:srcRect/>
          <a:stretch/>
        </p:blipFill>
        <p:spPr>
          <a:xfrm>
            <a:off x="713932" y="3912473"/>
            <a:ext cx="4084210" cy="2456622"/>
          </a:xfrm>
          <a:prstGeom prst="rect">
            <a:avLst/>
          </a:prstGeom>
          <a:noFill/>
          <a:ln w="9525" cap="flat" cmpd="sng">
            <a:solidFill>
              <a:schemeClr val="dk1"/>
            </a:solidFill>
            <a:prstDash val="solid"/>
            <a:round/>
            <a:headEnd type="none" w="sm" len="sm"/>
            <a:tailEnd type="none" w="sm" len="sm"/>
          </a:ln>
        </p:spPr>
      </p:pic>
      <p:sp>
        <p:nvSpPr>
          <p:cNvPr id="277" name="Google Shape;277;p17"/>
          <p:cNvSpPr txBox="1"/>
          <p:nvPr/>
        </p:nvSpPr>
        <p:spPr>
          <a:xfrm>
            <a:off x="5043949" y="1404094"/>
            <a:ext cx="6528619"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Develop personalized marketing strategies based on the store and department segments.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Propose inventory management strategies tailored to store and department needs.</a:t>
            </a:r>
            <a:endParaRPr sz="14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Significance of Personalization Strategies</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The significance of personalization strategies lies in their ability to tailor products, services, and marketing efforts to meet the specific needs and preferences of individual customers. By personalizing interactions and experiences, businesses can enhance customer satisfaction, loyalty, and engagement.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Significance of Inventory management Strategies</a:t>
            </a:r>
            <a:endParaRPr sz="16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Cost Optimization: </a:t>
            </a:r>
            <a:r>
              <a:rPr lang="en-US" sz="1600" b="0" i="0" u="none" strike="noStrike" cap="none">
                <a:solidFill>
                  <a:schemeClr val="dk1"/>
                </a:solidFill>
                <a:latin typeface="Arial"/>
                <a:ea typeface="Arial"/>
                <a:cs typeface="Arial"/>
                <a:sym typeface="Arial"/>
              </a:rPr>
              <a:t>Effective inventory management helps minimize storage costs by preventing overstocking or stockouts, thus optimizing inventory levels and reducing holding costs.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1" i="0" u="none" strike="noStrike" cap="none">
                <a:solidFill>
                  <a:schemeClr val="dk1"/>
                </a:solidFill>
                <a:latin typeface="Arial"/>
                <a:ea typeface="Arial"/>
                <a:cs typeface="Arial"/>
                <a:sym typeface="Arial"/>
              </a:rPr>
              <a:t>Improved Cash Flow: </a:t>
            </a:r>
            <a:r>
              <a:rPr lang="en-US" sz="1600" b="0" i="0" u="none" strike="noStrike" cap="none">
                <a:solidFill>
                  <a:schemeClr val="dk1"/>
                </a:solidFill>
                <a:latin typeface="Arial"/>
                <a:ea typeface="Arial"/>
                <a:cs typeface="Arial"/>
                <a:sym typeface="Arial"/>
              </a:rPr>
              <a:t>By maintaining optimal inventory levels, businesses can free up capital that would otherwise be tied up in excess inventory, leading to improved cash flow and liquidity.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8"/>
          <p:cNvSpPr txBox="1">
            <a:spLocks noGrp="1"/>
          </p:cNvSpPr>
          <p:nvPr>
            <p:ph type="title"/>
          </p:nvPr>
        </p:nvSpPr>
        <p:spPr>
          <a:xfrm>
            <a:off x="635409" y="582716"/>
            <a:ext cx="10921181" cy="8036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EB Garamond"/>
              <a:buNone/>
            </a:pPr>
            <a:r>
              <a:rPr lang="en-US" sz="4400"/>
              <a:t>Personalization Strategies for Store Segments</a:t>
            </a:r>
            <a:endParaRPr/>
          </a:p>
        </p:txBody>
      </p:sp>
      <p:pic>
        <p:nvPicPr>
          <p:cNvPr id="283" name="Google Shape;283;p18" descr="A graph with green bars&#10;&#10;Description automatically generated"/>
          <p:cNvPicPr preferRelativeResize="0"/>
          <p:nvPr/>
        </p:nvPicPr>
        <p:blipFill rotWithShape="1">
          <a:blip r:embed="rId3">
            <a:alphaModFix/>
          </a:blip>
          <a:srcRect/>
          <a:stretch/>
        </p:blipFill>
        <p:spPr>
          <a:xfrm>
            <a:off x="910730" y="1290315"/>
            <a:ext cx="6481304" cy="2138685"/>
          </a:xfrm>
          <a:prstGeom prst="rect">
            <a:avLst/>
          </a:prstGeom>
          <a:noFill/>
          <a:ln w="9525" cap="flat" cmpd="sng">
            <a:solidFill>
              <a:schemeClr val="dk1"/>
            </a:solidFill>
            <a:prstDash val="solid"/>
            <a:round/>
            <a:headEnd type="none" w="sm" len="sm"/>
            <a:tailEnd type="none" w="sm" len="sm"/>
          </a:ln>
        </p:spPr>
      </p:pic>
      <p:pic>
        <p:nvPicPr>
          <p:cNvPr id="284" name="Google Shape;284;p18" descr="A graph of blue rectangular bars&#10;&#10;Description automatically generated"/>
          <p:cNvPicPr preferRelativeResize="0"/>
          <p:nvPr/>
        </p:nvPicPr>
        <p:blipFill rotWithShape="1">
          <a:blip r:embed="rId4">
            <a:alphaModFix/>
          </a:blip>
          <a:srcRect/>
          <a:stretch/>
        </p:blipFill>
        <p:spPr>
          <a:xfrm>
            <a:off x="7667355" y="1290315"/>
            <a:ext cx="3338591" cy="2145404"/>
          </a:xfrm>
          <a:prstGeom prst="rect">
            <a:avLst/>
          </a:prstGeom>
          <a:noFill/>
          <a:ln w="9525" cap="flat" cmpd="sng">
            <a:solidFill>
              <a:schemeClr val="dk1"/>
            </a:solidFill>
            <a:prstDash val="solid"/>
            <a:round/>
            <a:headEnd type="none" w="sm" len="sm"/>
            <a:tailEnd type="none" w="sm" len="sm"/>
          </a:ln>
        </p:spPr>
      </p:pic>
      <p:sp>
        <p:nvSpPr>
          <p:cNvPr id="285" name="Google Shape;285;p18"/>
          <p:cNvSpPr txBox="1"/>
          <p:nvPr/>
        </p:nvSpPr>
        <p:spPr>
          <a:xfrm>
            <a:off x="635409" y="3773563"/>
            <a:ext cx="608770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0: Premium Space Retailers &amp; Sizeable Luxury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Marketing campaigns should highlight the spaciousness and luxury ambiance of the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Emphasize premium product lines and exclusive offerings to attract affluent customers.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1: Value-Oriented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Focus marketing efforts on value-conscious consumers by highlighting competitive pricing and promotions.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Leverage social media platforms and targeted digital advertising to reach budget-conscious shoppers.</a:t>
            </a:r>
            <a:endParaRPr sz="1400" b="0" i="0" u="none" strike="noStrike" cap="none">
              <a:solidFill>
                <a:srgbClr val="000000"/>
              </a:solidFill>
              <a:latin typeface="Arial"/>
              <a:ea typeface="Arial"/>
              <a:cs typeface="Arial"/>
              <a:sym typeface="Arial"/>
            </a:endParaRPr>
          </a:p>
        </p:txBody>
      </p:sp>
      <p:sp>
        <p:nvSpPr>
          <p:cNvPr id="286" name="Google Shape;286;p18"/>
          <p:cNvSpPr txBox="1"/>
          <p:nvPr/>
        </p:nvSpPr>
        <p:spPr>
          <a:xfrm>
            <a:off x="6723110" y="3726638"/>
            <a:ext cx="504978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2: Budget-Friendly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Promote budget-friendly product lines and emphasize affordability in marketing messaging.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Utilize cost-effective marketing channels such as email campaigns and local advertising.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3: Compact Elegance Stores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Position the stores as boutique destinations offering curated selections of premium products.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Highlight the elegance and sophistication of the store ambiance in marketing materials.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19" descr="A graph of blue rectangular bars&#10;&#10;Description automatically generated with medium confidence"/>
          <p:cNvPicPr preferRelativeResize="0"/>
          <p:nvPr/>
        </p:nvPicPr>
        <p:blipFill rotWithShape="1">
          <a:blip r:embed="rId3">
            <a:alphaModFix/>
          </a:blip>
          <a:srcRect/>
          <a:stretch/>
        </p:blipFill>
        <p:spPr>
          <a:xfrm>
            <a:off x="217539" y="681299"/>
            <a:ext cx="4500412" cy="2927140"/>
          </a:xfrm>
          <a:prstGeom prst="rect">
            <a:avLst/>
          </a:prstGeom>
          <a:noFill/>
          <a:ln w="9525" cap="flat" cmpd="sng">
            <a:solidFill>
              <a:schemeClr val="dk1"/>
            </a:solidFill>
            <a:prstDash val="solid"/>
            <a:round/>
            <a:headEnd type="none" w="sm" len="sm"/>
            <a:tailEnd type="none" w="sm" len="sm"/>
          </a:ln>
        </p:spPr>
      </p:pic>
      <p:sp>
        <p:nvSpPr>
          <p:cNvPr id="292" name="Google Shape;292;p19"/>
          <p:cNvSpPr txBox="1">
            <a:spLocks noGrp="1"/>
          </p:cNvSpPr>
          <p:nvPr>
            <p:ph type="title"/>
          </p:nvPr>
        </p:nvSpPr>
        <p:spPr>
          <a:xfrm>
            <a:off x="3884972" y="608363"/>
            <a:ext cx="7686368" cy="1325563"/>
          </a:xfrm>
          <a:prstGeom prst="rect">
            <a:avLst/>
          </a:prstGeom>
          <a:solidFill>
            <a:schemeClr val="lt1"/>
          </a:solid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Personalization Strategies for Department Segments</a:t>
            </a:r>
            <a:endParaRPr sz="4400">
              <a:latin typeface="Arial"/>
              <a:ea typeface="Arial"/>
              <a:cs typeface="Arial"/>
              <a:sym typeface="Arial"/>
            </a:endParaRPr>
          </a:p>
        </p:txBody>
      </p:sp>
      <p:pic>
        <p:nvPicPr>
          <p:cNvPr id="293" name="Google Shape;293;p19" descr="A graph with green bars&#10;&#10;Description automatically generated"/>
          <p:cNvPicPr preferRelativeResize="0"/>
          <p:nvPr/>
        </p:nvPicPr>
        <p:blipFill rotWithShape="1">
          <a:blip r:embed="rId4">
            <a:alphaModFix/>
          </a:blip>
          <a:srcRect/>
          <a:stretch/>
        </p:blipFill>
        <p:spPr>
          <a:xfrm>
            <a:off x="4605033" y="1839976"/>
            <a:ext cx="7079226" cy="2337294"/>
          </a:xfrm>
          <a:prstGeom prst="rect">
            <a:avLst/>
          </a:prstGeom>
          <a:noFill/>
          <a:ln w="9525" cap="flat" cmpd="sng">
            <a:solidFill>
              <a:schemeClr val="dk1"/>
            </a:solidFill>
            <a:prstDash val="solid"/>
            <a:round/>
            <a:headEnd type="none" w="sm" len="sm"/>
            <a:tailEnd type="none" w="sm" len="sm"/>
          </a:ln>
        </p:spPr>
      </p:pic>
      <p:sp>
        <p:nvSpPr>
          <p:cNvPr id="294" name="Google Shape;294;p19"/>
          <p:cNvSpPr txBox="1"/>
          <p:nvPr/>
        </p:nvSpPr>
        <p:spPr>
          <a:xfrm>
            <a:off x="507741" y="4083319"/>
            <a:ext cx="520986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0: Sizeable Luxury Departments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Highlight the spaciousness and luxury ambiance of the departments in marketing 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Promote premium product lines and exclusive offerings to attract affluent customers.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1: Premium Selection Departments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Emphasize the quality and exclusivity of products in marketing campaigns to appeal to discerning customers.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Utilize digital marketing channels and social media platforms to reach a wider audience of luxury shoppers.</a:t>
            </a:r>
            <a:endParaRPr sz="1400" b="0" i="0" u="none" strike="noStrike" cap="none">
              <a:solidFill>
                <a:srgbClr val="000000"/>
              </a:solidFill>
              <a:latin typeface="Arial"/>
              <a:ea typeface="Arial"/>
              <a:cs typeface="Arial"/>
              <a:sym typeface="Arial"/>
            </a:endParaRPr>
          </a:p>
        </p:txBody>
      </p:sp>
      <p:sp>
        <p:nvSpPr>
          <p:cNvPr id="295" name="Google Shape;295;p19"/>
          <p:cNvSpPr txBox="1"/>
          <p:nvPr/>
        </p:nvSpPr>
        <p:spPr>
          <a:xfrm>
            <a:off x="5968180" y="4177270"/>
            <a:ext cx="5209869"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2: Elite Departments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Position the departments as boutique destinations offering curated selections of premium products.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Showcase the convenience and efficiency of compact physical spaces in marketing materials.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Cluster 3: Grand Outlets Department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Emphasize the variety and breadth of products available in the departments to appeal to a wider customer base.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Utilize value-driven marketing messages to highlight affordability and attract price-conscious shoppers.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0"/>
          <p:cNvSpPr txBox="1">
            <a:spLocks noGrp="1"/>
          </p:cNvSpPr>
          <p:nvPr>
            <p:ph type="title"/>
          </p:nvPr>
        </p:nvSpPr>
        <p:spPr>
          <a:xfrm>
            <a:off x="838200" y="543385"/>
            <a:ext cx="10515600" cy="76430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Arial"/>
              <a:buNone/>
            </a:pPr>
            <a:r>
              <a:rPr lang="en-US" sz="4400">
                <a:latin typeface="Arial"/>
                <a:ea typeface="Arial"/>
                <a:cs typeface="Arial"/>
                <a:sym typeface="Arial"/>
              </a:rPr>
              <a:t>Market Basket Analysis</a:t>
            </a:r>
            <a:endParaRPr/>
          </a:p>
        </p:txBody>
      </p:sp>
      <p:pic>
        <p:nvPicPr>
          <p:cNvPr id="301" name="Google Shape;301;p20"/>
          <p:cNvPicPr preferRelativeResize="0"/>
          <p:nvPr/>
        </p:nvPicPr>
        <p:blipFill rotWithShape="1">
          <a:blip r:embed="rId3">
            <a:alphaModFix/>
          </a:blip>
          <a:srcRect/>
          <a:stretch/>
        </p:blipFill>
        <p:spPr>
          <a:xfrm>
            <a:off x="612058" y="1307690"/>
            <a:ext cx="6860458" cy="2272565"/>
          </a:xfrm>
          <a:prstGeom prst="rect">
            <a:avLst/>
          </a:prstGeom>
          <a:noFill/>
          <a:ln>
            <a:noFill/>
          </a:ln>
        </p:spPr>
      </p:pic>
      <p:sp>
        <p:nvSpPr>
          <p:cNvPr id="302" name="Google Shape;302;p20"/>
          <p:cNvSpPr txBox="1"/>
          <p:nvPr/>
        </p:nvSpPr>
        <p:spPr>
          <a:xfrm>
            <a:off x="4042287" y="3662314"/>
            <a:ext cx="7677766"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Significance of Market Basket Analysis</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Market basket analysis is a </a:t>
            </a:r>
            <a:r>
              <a:rPr lang="en-US" sz="1400" b="1" i="0" u="none" strike="noStrike" cap="none">
                <a:solidFill>
                  <a:schemeClr val="dk1"/>
                </a:solidFill>
                <a:latin typeface="Arial"/>
                <a:ea typeface="Arial"/>
                <a:cs typeface="Arial"/>
                <a:sym typeface="Arial"/>
              </a:rPr>
              <a:t>strategic data mining technique used by retailers to enhance sales by gaining a deeper understanding of customer purchasing patterns</a:t>
            </a:r>
            <a:r>
              <a:rPr lang="en-US" sz="1400" b="0" i="0" u="none" strike="noStrike" cap="none">
                <a:solidFill>
                  <a:schemeClr val="dk1"/>
                </a:solidFill>
                <a:latin typeface="Arial"/>
                <a:ea typeface="Arial"/>
                <a:cs typeface="Arial"/>
                <a:sym typeface="Arial"/>
              </a:rPr>
              <a:t>. This method involves examining substantial datasets, such as historical purchase records, to unveil inherent product groupings and identify items that customers tend to buy together.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By recognizing these patterns of co-occurrence, retailers can make informed decisions to optimize inventory management, devise effective marketing strategies, employ cross-selling tactics.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Algorithms Used in Market Basket Analysis in Retail Data</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 </a:t>
            </a:r>
            <a:r>
              <a:rPr lang="en-US" sz="1400" b="1" i="0" u="none" strike="noStrike" cap="none">
                <a:solidFill>
                  <a:schemeClr val="dk1"/>
                </a:solidFill>
                <a:latin typeface="Arial"/>
                <a:ea typeface="Arial"/>
                <a:cs typeface="Arial"/>
                <a:sym typeface="Arial"/>
              </a:rPr>
              <a:t>Apriori Algorithm widely uses and is well-known for Association Rule mining</a:t>
            </a:r>
            <a:r>
              <a:rPr lang="en-US" sz="1400" b="0" i="0" u="none" strike="noStrike" cap="none">
                <a:solidFill>
                  <a:schemeClr val="dk1"/>
                </a:solidFill>
                <a:latin typeface="Arial"/>
                <a:ea typeface="Arial"/>
                <a:cs typeface="Arial"/>
                <a:sym typeface="Arial"/>
              </a:rPr>
              <a:t>, making it a popular choice in market basket analysis. </a:t>
            </a:r>
            <a:endParaRPr sz="1400" b="0" i="0" u="none" strike="noStrike" cap="none">
              <a:solidFill>
                <a:srgbClr val="000000"/>
              </a:solidFill>
              <a:latin typeface="Arial"/>
              <a:ea typeface="Arial"/>
              <a:cs typeface="Arial"/>
              <a:sym typeface="Arial"/>
            </a:endParaRPr>
          </a:p>
        </p:txBody>
      </p:sp>
      <p:sp>
        <p:nvSpPr>
          <p:cNvPr id="303" name="Google Shape;303;p20"/>
          <p:cNvSpPr txBox="1"/>
          <p:nvPr/>
        </p:nvSpPr>
        <p:spPr>
          <a:xfrm>
            <a:off x="7698658" y="1297571"/>
            <a:ext cx="3693242"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 market basket analysis we have tried to find out the association within different departments with the different stores in the given sales data.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Develop cross-selling strategies based on these inferences.</a:t>
            </a:r>
            <a:endParaRPr sz="1400" b="0" i="0" u="none" strike="noStrike" cap="none">
              <a:solidFill>
                <a:srgbClr val="000000"/>
              </a:solidFill>
              <a:latin typeface="Arial"/>
              <a:ea typeface="Arial"/>
              <a:cs typeface="Arial"/>
              <a:sym typeface="Arial"/>
            </a:endParaRPr>
          </a:p>
        </p:txBody>
      </p:sp>
      <p:sp>
        <p:nvSpPr>
          <p:cNvPr id="304" name="Google Shape;304;p20"/>
          <p:cNvSpPr txBox="1"/>
          <p:nvPr/>
        </p:nvSpPr>
        <p:spPr>
          <a:xfrm>
            <a:off x="722671" y="3717320"/>
            <a:ext cx="3319616" cy="224676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 output of the analysis consists of association rules that reveal </a:t>
            </a:r>
            <a:r>
              <a:rPr lang="en-US" sz="1400" b="1" i="0" u="none" strike="noStrike" cap="none">
                <a:solidFill>
                  <a:schemeClr val="dk1"/>
                </a:solidFill>
                <a:latin typeface="Arial"/>
                <a:ea typeface="Arial"/>
                <a:cs typeface="Arial"/>
                <a:sym typeface="Arial"/>
              </a:rPr>
              <a:t>relationships between departments</a:t>
            </a:r>
            <a:r>
              <a:rPr lang="en-US" sz="1400" b="0" i="0" u="none" strike="noStrike" cap="none">
                <a:solidFill>
                  <a:schemeClr val="dk1"/>
                </a:solidFill>
                <a:latin typeface="Arial"/>
                <a:ea typeface="Arial"/>
                <a:cs typeface="Arial"/>
                <a:sym typeface="Arial"/>
              </a:rPr>
              <a:t>. Each rule specifies a set of items (antecedent) that are associated with another set of items (consequent). For example, a rule might indicate that when department 29 is present, items in stores 1, 2, 3, ..., 45 tend to be purchased together.</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1"/>
          <p:cNvSpPr txBox="1">
            <a:spLocks noGrp="1"/>
          </p:cNvSpPr>
          <p:nvPr>
            <p:ph type="title"/>
          </p:nvPr>
        </p:nvSpPr>
        <p:spPr>
          <a:xfrm>
            <a:off x="2218403" y="602380"/>
            <a:ext cx="7755194" cy="82329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Market Basket Analysis</a:t>
            </a:r>
            <a:endParaRPr/>
          </a:p>
        </p:txBody>
      </p:sp>
      <p:sp>
        <p:nvSpPr>
          <p:cNvPr id="310" name="Google Shape;310;p21"/>
          <p:cNvSpPr txBox="1"/>
          <p:nvPr/>
        </p:nvSpPr>
        <p:spPr>
          <a:xfrm>
            <a:off x="565355" y="1546639"/>
            <a:ext cx="11061289"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Implementation: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The Apriori algorithm is applied to the sales data with specific parameters such as minimum support, confidence, lift, and length. This algorithm efficiently discovers frequent itemset and generates association rules based on these itemset.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Association Results: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association results are printed out, showing each association rule along with its support, confidence, and lift. For example, a rule might indicate that when department 29 is present, there is a high confidence (e.g., 95%) that stores 1, 2, 3, ..., 45 will also be present in the same transaction, with a lift value indicating the strength of the association.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Develop cross-selling strategies based on these inferences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Optimize Store Layout: </a:t>
            </a:r>
            <a:r>
              <a:rPr lang="en-US" sz="1400" b="0" i="0" u="none" strike="noStrike" cap="none">
                <a:solidFill>
                  <a:schemeClr val="dk1"/>
                </a:solidFill>
                <a:latin typeface="Arial"/>
                <a:ea typeface="Arial"/>
                <a:cs typeface="Arial"/>
                <a:sym typeface="Arial"/>
              </a:rPr>
              <a:t>Utilize the associations between departments and stores to optimize the layout of each store. Place related departments in close proximity to each other within the store to encourage cross-store purchases. For example, if departments 29 and 30 are frequently purchased together across various stores, consider placing them adjacent to each other to facilitate cross-department sales.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Create Bundled Offers: </a:t>
            </a:r>
            <a:r>
              <a:rPr lang="en-US" sz="1400" b="0" i="0" u="none" strike="noStrike" cap="none">
                <a:solidFill>
                  <a:schemeClr val="dk1"/>
                </a:solidFill>
                <a:latin typeface="Arial"/>
                <a:ea typeface="Arial"/>
                <a:cs typeface="Arial"/>
                <a:sym typeface="Arial"/>
              </a:rPr>
              <a:t>Identify departments that exhibit strong associations across multiple stores, such as departments 35 and 36. Create bundled offers or package deals that include products from both departments to incentivize customers to make cross-department purchases.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Targeted Promotions: </a:t>
            </a:r>
            <a:r>
              <a:rPr lang="en-US" sz="1400" b="0" i="0" u="none" strike="noStrike" cap="none">
                <a:solidFill>
                  <a:schemeClr val="dk1"/>
                </a:solidFill>
                <a:latin typeface="Arial"/>
                <a:ea typeface="Arial"/>
                <a:cs typeface="Arial"/>
                <a:sym typeface="Arial"/>
              </a:rPr>
              <a:t>Develop targeted promotions and marketing campaigns based on the associations between departments and stores. For instance, if department 37 frequently co-occurs with departments 1, 2, 4, and 40 across different stores, create promotions that span these departments to capitalize on customer purchase patterns.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1" i="0" u="none" strike="noStrike" cap="none">
                <a:solidFill>
                  <a:schemeClr val="dk1"/>
                </a:solidFill>
                <a:latin typeface="Arial"/>
                <a:ea typeface="Arial"/>
                <a:cs typeface="Arial"/>
                <a:sym typeface="Arial"/>
              </a:rPr>
              <a:t>Dynamic Pricing Strategies: </a:t>
            </a:r>
            <a:r>
              <a:rPr lang="en-US" sz="1400" b="0" i="0" u="none" strike="noStrike" cap="none">
                <a:solidFill>
                  <a:schemeClr val="dk1"/>
                </a:solidFill>
                <a:latin typeface="Arial"/>
                <a:ea typeface="Arial"/>
                <a:cs typeface="Arial"/>
                <a:sym typeface="Arial"/>
              </a:rPr>
              <a:t>Adjust pricing strategies based on the associations between departments and stores. Offer discounts or special pricing for products that are frequently purchased together across different stores to stimulate sales and increase customer satisfaction.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2"/>
          <p:cNvSpPr txBox="1">
            <a:spLocks noGrp="1"/>
          </p:cNvSpPr>
          <p:nvPr>
            <p:ph type="title"/>
          </p:nvPr>
        </p:nvSpPr>
        <p:spPr>
          <a:xfrm>
            <a:off x="938981" y="563050"/>
            <a:ext cx="10515600" cy="77413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Demand Forecasting</a:t>
            </a:r>
            <a:endParaRPr/>
          </a:p>
        </p:txBody>
      </p:sp>
      <p:grpSp>
        <p:nvGrpSpPr>
          <p:cNvPr id="316" name="Google Shape;316;p22"/>
          <p:cNvGrpSpPr/>
          <p:nvPr/>
        </p:nvGrpSpPr>
        <p:grpSpPr>
          <a:xfrm>
            <a:off x="626000" y="3854091"/>
            <a:ext cx="4564897" cy="2440859"/>
            <a:chOff x="626000" y="3854091"/>
            <a:chExt cx="4564897" cy="2440859"/>
          </a:xfrm>
        </p:grpSpPr>
        <p:pic>
          <p:nvPicPr>
            <p:cNvPr id="317" name="Google Shape;317;p22" descr="A graph of a graph with blue lines and orange lines&#10;&#10;Description automatically generated"/>
            <p:cNvPicPr preferRelativeResize="0"/>
            <p:nvPr/>
          </p:nvPicPr>
          <p:blipFill rotWithShape="1">
            <a:blip r:embed="rId3">
              <a:alphaModFix/>
            </a:blip>
            <a:srcRect/>
            <a:stretch/>
          </p:blipFill>
          <p:spPr>
            <a:xfrm>
              <a:off x="626000" y="3854091"/>
              <a:ext cx="4564897" cy="2440859"/>
            </a:xfrm>
            <a:prstGeom prst="rect">
              <a:avLst/>
            </a:prstGeom>
            <a:noFill/>
            <a:ln w="9525" cap="flat" cmpd="sng">
              <a:solidFill>
                <a:schemeClr val="dk1"/>
              </a:solidFill>
              <a:prstDash val="solid"/>
              <a:round/>
              <a:headEnd type="none" w="sm" len="sm"/>
              <a:tailEnd type="none" w="sm" len="sm"/>
            </a:ln>
          </p:spPr>
        </p:pic>
        <p:pic>
          <p:nvPicPr>
            <p:cNvPr id="318" name="Google Shape;318;p22"/>
            <p:cNvPicPr preferRelativeResize="0"/>
            <p:nvPr/>
          </p:nvPicPr>
          <p:blipFill rotWithShape="1">
            <a:blip r:embed="rId4">
              <a:alphaModFix/>
            </a:blip>
            <a:srcRect/>
            <a:stretch/>
          </p:blipFill>
          <p:spPr>
            <a:xfrm>
              <a:off x="2182202" y="4137036"/>
              <a:ext cx="2016173" cy="321954"/>
            </a:xfrm>
            <a:prstGeom prst="rect">
              <a:avLst/>
            </a:prstGeom>
            <a:noFill/>
            <a:ln w="9525" cap="flat" cmpd="sng">
              <a:solidFill>
                <a:schemeClr val="dk1"/>
              </a:solidFill>
              <a:prstDash val="solid"/>
              <a:round/>
              <a:headEnd type="none" w="sm" len="sm"/>
              <a:tailEnd type="none" w="sm" len="sm"/>
            </a:ln>
          </p:spPr>
        </p:pic>
      </p:grpSp>
      <p:grpSp>
        <p:nvGrpSpPr>
          <p:cNvPr id="319" name="Google Shape;319;p22"/>
          <p:cNvGrpSpPr/>
          <p:nvPr/>
        </p:nvGrpSpPr>
        <p:grpSpPr>
          <a:xfrm>
            <a:off x="679487" y="1271761"/>
            <a:ext cx="4564897" cy="2440858"/>
            <a:chOff x="752756" y="1129614"/>
            <a:chExt cx="4564897" cy="2440858"/>
          </a:xfrm>
        </p:grpSpPr>
        <p:pic>
          <p:nvPicPr>
            <p:cNvPr id="320" name="Google Shape;320;p22" descr="A graph with blue and orange lines&#10;&#10;Description automatically generated"/>
            <p:cNvPicPr preferRelativeResize="0"/>
            <p:nvPr/>
          </p:nvPicPr>
          <p:blipFill rotWithShape="1">
            <a:blip r:embed="rId5">
              <a:alphaModFix/>
            </a:blip>
            <a:srcRect/>
            <a:stretch/>
          </p:blipFill>
          <p:spPr>
            <a:xfrm>
              <a:off x="752756" y="1129614"/>
              <a:ext cx="4564897" cy="2440858"/>
            </a:xfrm>
            <a:prstGeom prst="rect">
              <a:avLst/>
            </a:prstGeom>
            <a:noFill/>
            <a:ln w="9525" cap="flat" cmpd="sng">
              <a:solidFill>
                <a:schemeClr val="dk1"/>
              </a:solidFill>
              <a:prstDash val="solid"/>
              <a:round/>
              <a:headEnd type="none" w="sm" len="sm"/>
              <a:tailEnd type="none" w="sm" len="sm"/>
            </a:ln>
          </p:spPr>
        </p:pic>
        <p:pic>
          <p:nvPicPr>
            <p:cNvPr id="321" name="Google Shape;321;p22"/>
            <p:cNvPicPr preferRelativeResize="0"/>
            <p:nvPr/>
          </p:nvPicPr>
          <p:blipFill rotWithShape="1">
            <a:blip r:embed="rId6">
              <a:alphaModFix/>
            </a:blip>
            <a:srcRect/>
            <a:stretch/>
          </p:blipFill>
          <p:spPr>
            <a:xfrm>
              <a:off x="2313428" y="1611662"/>
              <a:ext cx="2081591" cy="361217"/>
            </a:xfrm>
            <a:prstGeom prst="rect">
              <a:avLst/>
            </a:prstGeom>
            <a:noFill/>
            <a:ln w="9525" cap="flat" cmpd="sng">
              <a:solidFill>
                <a:schemeClr val="dk1"/>
              </a:solidFill>
              <a:prstDash val="solid"/>
              <a:round/>
              <a:headEnd type="none" w="sm" len="sm"/>
              <a:tailEnd type="none" w="sm" len="sm"/>
            </a:ln>
          </p:spPr>
        </p:pic>
      </p:grpSp>
      <p:sp>
        <p:nvSpPr>
          <p:cNvPr id="322" name="Google Shape;322;p22"/>
          <p:cNvSpPr txBox="1"/>
          <p:nvPr/>
        </p:nvSpPr>
        <p:spPr>
          <a:xfrm>
            <a:off x="5301482" y="1512016"/>
            <a:ext cx="6096000"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Build models to forecast weekly sales for each store and department.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Incorporate factors like CPI, unemployment rate, fuel prices, and store/dept attributes.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Explore short-term and long-term forecasting models.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Significance of Demand Forecasting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Demand forecasting is a process used by businesses to predict future customer demand for their products or services.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It involves analyzing historical sales data, market trends, and other relevant factors to estimate the quantity of goods or services that customers are likely to purchase over a specific period of time.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Models Used for Demand Forecasting in Retail Data</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Short-term forecasting model(SARIMA)- Predicting future events or values over a relatively brief period, often within weeks or months, for immediate operational decisions.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Long-term forecasting model(Random Forest)- Predicting future trends and values over an extended period, typically spanning months to years, for strategic planning and decision-making.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3"/>
          <p:cNvSpPr txBox="1"/>
          <p:nvPr/>
        </p:nvSpPr>
        <p:spPr>
          <a:xfrm>
            <a:off x="6673587" y="648798"/>
            <a:ext cx="440485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Forecasting for 2013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Forecasting using the Holt-Winters Model</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To perform forecasting using the Holt-Winters Model, also known as Triple Exponential Smoothing.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We can leverage the Holt-Winters Model to perform forecasting and predict future weekly sales for each store and department, taking into account the level, trend, and seasonality components of the data.</a:t>
            </a:r>
            <a:endParaRPr sz="1400" b="0" i="0" u="none" strike="noStrike" cap="none">
              <a:solidFill>
                <a:srgbClr val="000000"/>
              </a:solidFill>
              <a:latin typeface="Arial"/>
              <a:ea typeface="Arial"/>
              <a:cs typeface="Arial"/>
              <a:sym typeface="Arial"/>
            </a:endParaRPr>
          </a:p>
        </p:txBody>
      </p:sp>
      <p:pic>
        <p:nvPicPr>
          <p:cNvPr id="328" name="Google Shape;328;p23" descr="A graph of a graph&#10;&#10;Description automatically generated with medium confidence"/>
          <p:cNvPicPr preferRelativeResize="0"/>
          <p:nvPr/>
        </p:nvPicPr>
        <p:blipFill rotWithShape="1">
          <a:blip r:embed="rId3">
            <a:alphaModFix/>
          </a:blip>
          <a:srcRect/>
          <a:stretch/>
        </p:blipFill>
        <p:spPr>
          <a:xfrm>
            <a:off x="5535562" y="3030684"/>
            <a:ext cx="6095998" cy="3178518"/>
          </a:xfrm>
          <a:prstGeom prst="rect">
            <a:avLst/>
          </a:prstGeom>
          <a:noFill/>
          <a:ln w="9525" cap="flat" cmpd="sng">
            <a:solidFill>
              <a:schemeClr val="dk1"/>
            </a:solidFill>
            <a:prstDash val="solid"/>
            <a:round/>
            <a:headEnd type="none" w="sm" len="sm"/>
            <a:tailEnd type="none" w="sm" len="sm"/>
          </a:ln>
        </p:spPr>
      </p:pic>
      <p:pic>
        <p:nvPicPr>
          <p:cNvPr id="329" name="Google Shape;329;p23" descr="A graph of a line&#10;&#10;Description automatically generated with medium confidence"/>
          <p:cNvPicPr preferRelativeResize="0"/>
          <p:nvPr/>
        </p:nvPicPr>
        <p:blipFill rotWithShape="1">
          <a:blip r:embed="rId4">
            <a:alphaModFix/>
          </a:blip>
          <a:srcRect/>
          <a:stretch/>
        </p:blipFill>
        <p:spPr>
          <a:xfrm>
            <a:off x="560440" y="648798"/>
            <a:ext cx="5375730" cy="2780202"/>
          </a:xfrm>
          <a:prstGeom prst="rect">
            <a:avLst/>
          </a:prstGeom>
          <a:noFill/>
          <a:ln w="9525" cap="flat" cmpd="sng">
            <a:solidFill>
              <a:schemeClr val="dk1"/>
            </a:solidFill>
            <a:prstDash val="solid"/>
            <a:round/>
            <a:headEnd type="none" w="sm" len="sm"/>
            <a:tailEnd type="none" w="sm" len="sm"/>
          </a:ln>
        </p:spPr>
      </p:pic>
      <p:sp>
        <p:nvSpPr>
          <p:cNvPr id="330" name="Google Shape;330;p23"/>
          <p:cNvSpPr txBox="1">
            <a:spLocks noGrp="1"/>
          </p:cNvSpPr>
          <p:nvPr>
            <p:ph type="title"/>
          </p:nvPr>
        </p:nvSpPr>
        <p:spPr>
          <a:xfrm>
            <a:off x="1093840" y="3982798"/>
            <a:ext cx="3908322" cy="1274289"/>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accent5"/>
              </a:buClr>
              <a:buSzPct val="100000"/>
              <a:buFont typeface="EB Garamond"/>
              <a:buNone/>
            </a:pPr>
            <a:r>
              <a:rPr lang="en-US" sz="4400"/>
              <a:t>Demand Forecasting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4"/>
          <p:cNvSpPr txBox="1">
            <a:spLocks noGrp="1"/>
          </p:cNvSpPr>
          <p:nvPr>
            <p:ph type="title"/>
          </p:nvPr>
        </p:nvSpPr>
        <p:spPr>
          <a:xfrm>
            <a:off x="2508455" y="543385"/>
            <a:ext cx="7175090" cy="78396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Impact of External Factors</a:t>
            </a:r>
            <a:endParaRPr/>
          </a:p>
        </p:txBody>
      </p:sp>
      <p:pic>
        <p:nvPicPr>
          <p:cNvPr id="336" name="Google Shape;336;p24" descr="A graph showing the impact of external factors on demand&#10;&#10;Description automatically generated"/>
          <p:cNvPicPr preferRelativeResize="0"/>
          <p:nvPr/>
        </p:nvPicPr>
        <p:blipFill rotWithShape="1">
          <a:blip r:embed="rId3">
            <a:alphaModFix/>
          </a:blip>
          <a:srcRect/>
          <a:stretch/>
        </p:blipFill>
        <p:spPr>
          <a:xfrm>
            <a:off x="526510" y="1319525"/>
            <a:ext cx="5715696" cy="3361813"/>
          </a:xfrm>
          <a:prstGeom prst="rect">
            <a:avLst/>
          </a:prstGeom>
          <a:noFill/>
          <a:ln w="9525" cap="flat" cmpd="sng">
            <a:solidFill>
              <a:schemeClr val="dk1"/>
            </a:solidFill>
            <a:prstDash val="solid"/>
            <a:round/>
            <a:headEnd type="none" w="sm" len="sm"/>
            <a:tailEnd type="none" w="sm" len="sm"/>
          </a:ln>
        </p:spPr>
      </p:pic>
      <p:sp>
        <p:nvSpPr>
          <p:cNvPr id="337" name="Google Shape;337;p24"/>
          <p:cNvSpPr txBox="1"/>
          <p:nvPr/>
        </p:nvSpPr>
        <p:spPr>
          <a:xfrm>
            <a:off x="6242206" y="1446161"/>
            <a:ext cx="5565058"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Objective-</a:t>
            </a:r>
            <a:endParaRPr sz="1400" b="0" i="0" u="none"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Examine how external factors (economic indicators, regional climate) influence sales.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Incorporate these insights into the demand forecasting models.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Impact of external factors in Demand Forecasting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Temperature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It plays a significant role in shaping consumer demand, especially for seasonal products and services.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During colder months, there is typically an increased demand for products such as winter clothing, heating appliances, and comfort foods. Conversely, warmer temperatures can lead to higher demand for items like outdoor recreational equipment, summer clothing, and cold beverages.</a:t>
            </a:r>
            <a:endParaRPr sz="1400" b="0" i="0" u="none" strike="noStrike" cap="none">
              <a:solidFill>
                <a:srgbClr val="000000"/>
              </a:solidFill>
              <a:latin typeface="Arial"/>
              <a:ea typeface="Arial"/>
              <a:cs typeface="Arial"/>
              <a:sym typeface="Arial"/>
            </a:endParaRPr>
          </a:p>
        </p:txBody>
      </p:sp>
      <p:sp>
        <p:nvSpPr>
          <p:cNvPr id="338" name="Google Shape;338;p24"/>
          <p:cNvSpPr txBox="1"/>
          <p:nvPr/>
        </p:nvSpPr>
        <p:spPr>
          <a:xfrm>
            <a:off x="1134049" y="4738256"/>
            <a:ext cx="9923901"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Consumer Price Index (CPI) and Fuel Price Index</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 CPI is a measure of the average change over time in the prices paid by urban consumers for a market basket of consumer goods and services.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Changes in the CPI reflect inflationary or deflationary pressures in the economy, which directly impact consumers' purchasing power.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Fluctuations in fuel prices directly affect operational costs for businesses involved in transportation and logistics, leading to changes in product pricing and availability.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5"/>
          <p:cNvSpPr txBox="1">
            <a:spLocks noGrp="1"/>
          </p:cNvSpPr>
          <p:nvPr>
            <p:ph type="title"/>
          </p:nvPr>
        </p:nvSpPr>
        <p:spPr>
          <a:xfrm>
            <a:off x="2183990" y="563050"/>
            <a:ext cx="782401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44" name="Google Shape;344;p25"/>
          <p:cNvSpPr txBox="1"/>
          <p:nvPr/>
        </p:nvSpPr>
        <p:spPr>
          <a:xfrm>
            <a:off x="648929" y="2101089"/>
            <a:ext cx="4994787" cy="37548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Real World Application  and Strategy Formulation in Inventory Management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Seasonal Forecasting: </a:t>
            </a:r>
            <a:r>
              <a:rPr lang="en-US" sz="1400" b="0" i="0" u="none" strike="noStrike" cap="none">
                <a:solidFill>
                  <a:schemeClr val="dk1"/>
                </a:solidFill>
                <a:latin typeface="Arial"/>
                <a:ea typeface="Arial"/>
                <a:cs typeface="Arial"/>
                <a:sym typeface="Arial"/>
              </a:rPr>
              <a:t>Utilize temperature data to forecast seasonal demand fluctuations. Allocate inventory space and resources accordingly to meet the anticipated demand for seasonal products.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Dynamic Pricing: </a:t>
            </a:r>
            <a:r>
              <a:rPr lang="en-US" sz="1400" b="0" i="0" u="none" strike="noStrike" cap="none">
                <a:solidFill>
                  <a:schemeClr val="dk1"/>
                </a:solidFill>
                <a:latin typeface="Arial"/>
                <a:ea typeface="Arial"/>
                <a:cs typeface="Arial"/>
                <a:sym typeface="Arial"/>
              </a:rPr>
              <a:t>Incorporate CPI data to adjust pricing strategies in response to changes in consumer purchasing power. Offer promotions or discounts during periods of low inflation to stimulate sales.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Supply Chain Optimization: </a:t>
            </a:r>
            <a:r>
              <a:rPr lang="en-US" sz="1400" b="0" i="0" u="none" strike="noStrike" cap="none">
                <a:solidFill>
                  <a:schemeClr val="dk1"/>
                </a:solidFill>
                <a:latin typeface="Arial"/>
                <a:ea typeface="Arial"/>
                <a:cs typeface="Arial"/>
                <a:sym typeface="Arial"/>
              </a:rPr>
              <a:t>Monitor fuel price fluctuations to anticipate changes in transportation costs. Optimize supply chain routes and distribution networks to minimize the impact of fuel price changes on logistics expenses.</a:t>
            </a:r>
            <a:endParaRPr sz="1400" b="0" i="0" u="none" strike="noStrike" cap="none">
              <a:solidFill>
                <a:srgbClr val="000000"/>
              </a:solidFill>
              <a:latin typeface="Arial"/>
              <a:ea typeface="Arial"/>
              <a:cs typeface="Arial"/>
              <a:sym typeface="Arial"/>
            </a:endParaRPr>
          </a:p>
        </p:txBody>
      </p:sp>
      <p:sp>
        <p:nvSpPr>
          <p:cNvPr id="345" name="Google Shape;345;p25"/>
          <p:cNvSpPr txBox="1"/>
          <p:nvPr/>
        </p:nvSpPr>
        <p:spPr>
          <a:xfrm>
            <a:off x="5860026" y="2101089"/>
            <a:ext cx="5506064"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Real World Application  and Strategy Formulation  in Marketing Strategies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Targeted Campaigns:</a:t>
            </a:r>
            <a:r>
              <a:rPr lang="en-US" sz="1400" b="0" i="0" u="none" strike="noStrike" cap="none">
                <a:solidFill>
                  <a:schemeClr val="dk1"/>
                </a:solidFill>
                <a:latin typeface="Arial"/>
                <a:ea typeface="Arial"/>
                <a:cs typeface="Arial"/>
                <a:sym typeface="Arial"/>
              </a:rPr>
              <a:t> Tailor marketing campaigns based on regional climate conditions to promote relevant products. For example, launch winter clothing promotions in colder regions and summer gear promotions in warmer areas.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Price Sensitivity Analysis:</a:t>
            </a:r>
            <a:r>
              <a:rPr lang="en-US" sz="1400" b="0" i="0" u="none" strike="noStrike" cap="none">
                <a:solidFill>
                  <a:schemeClr val="dk1"/>
                </a:solidFill>
                <a:latin typeface="Arial"/>
                <a:ea typeface="Arial"/>
                <a:cs typeface="Arial"/>
                <a:sym typeface="Arial"/>
              </a:rPr>
              <a:t> Analyze consumer response to price changes using CPI data. Adjust pricing strategies to maximize revenue while remaining competitive in the market.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Promotional Timing: </a:t>
            </a:r>
            <a:r>
              <a:rPr lang="en-US" sz="1400" b="0" i="0" u="none" strike="noStrike" cap="none">
                <a:solidFill>
                  <a:schemeClr val="dk1"/>
                </a:solidFill>
                <a:latin typeface="Arial"/>
                <a:ea typeface="Arial"/>
                <a:cs typeface="Arial"/>
                <a:sym typeface="Arial"/>
              </a:rPr>
              <a:t>Coordinate marketing efforts with fluctuations in fuel prices. Launch promotions or special offers during periods of low fuel prices to offset potential decreases in consumer discretionary spending.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6"/>
          <p:cNvSpPr txBox="1">
            <a:spLocks noGrp="1"/>
          </p:cNvSpPr>
          <p:nvPr>
            <p:ph type="title"/>
          </p:nvPr>
        </p:nvSpPr>
        <p:spPr>
          <a:xfrm>
            <a:off x="2183990" y="563050"/>
            <a:ext cx="7824019"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4400"/>
              <a:buFont typeface="EB Garamond"/>
              <a:buNone/>
            </a:pPr>
            <a:r>
              <a:rPr lang="en-US" sz="4400"/>
              <a:t>Real-World Application and Strategy Formulation</a:t>
            </a:r>
            <a:endParaRPr sz="4400"/>
          </a:p>
        </p:txBody>
      </p:sp>
      <p:sp>
        <p:nvSpPr>
          <p:cNvPr id="351" name="Google Shape;351;p26"/>
          <p:cNvSpPr txBox="1"/>
          <p:nvPr/>
        </p:nvSpPr>
        <p:spPr>
          <a:xfrm>
            <a:off x="845575" y="2036097"/>
            <a:ext cx="4935793" cy="375487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Real World Application  and Strategy Formulation in Store Optimization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Product Placement: </a:t>
            </a:r>
            <a:r>
              <a:rPr lang="en-US" sz="1400" b="0" i="0" u="none" strike="noStrike" cap="none">
                <a:solidFill>
                  <a:schemeClr val="dk1"/>
                </a:solidFill>
                <a:latin typeface="Arial"/>
                <a:ea typeface="Arial"/>
                <a:cs typeface="Arial"/>
                <a:sym typeface="Arial"/>
              </a:rPr>
              <a:t>Arrange store layouts to reflect seasonal demand patterns identified through temperature data. Highlight relevant products prominently to attract customer attention.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Inventory Turnover:</a:t>
            </a:r>
            <a:r>
              <a:rPr lang="en-US" sz="1400" b="0" i="0" u="none" strike="noStrike" cap="none">
                <a:solidFill>
                  <a:schemeClr val="dk1"/>
                </a:solidFill>
                <a:latin typeface="Arial"/>
                <a:ea typeface="Arial"/>
                <a:cs typeface="Arial"/>
                <a:sym typeface="Arial"/>
              </a:rPr>
              <a:t> Use CPI data to optimize inventory levels and minimize carrying costs. Adjust stock levels based on changes in consumer spending patterns to ensure optimal turnover rates.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Customer Experience:</a:t>
            </a:r>
            <a:r>
              <a:rPr lang="en-US" sz="1400" b="0" i="0" u="none" strike="noStrike" cap="none">
                <a:solidFill>
                  <a:schemeClr val="dk1"/>
                </a:solidFill>
                <a:latin typeface="Arial"/>
                <a:ea typeface="Arial"/>
                <a:cs typeface="Arial"/>
                <a:sym typeface="Arial"/>
              </a:rPr>
              <a:t> Leverage insights from fuel price data to offer convenience-oriented services, such as online ordering with flexible delivery options, to mitigate the impact of increased transportation costs on consumers.</a:t>
            </a:r>
            <a:endParaRPr sz="1400" b="0" i="0" u="none" strike="noStrike" cap="none">
              <a:solidFill>
                <a:srgbClr val="000000"/>
              </a:solidFill>
              <a:latin typeface="Arial"/>
              <a:ea typeface="Arial"/>
              <a:cs typeface="Arial"/>
              <a:sym typeface="Arial"/>
            </a:endParaRPr>
          </a:p>
        </p:txBody>
      </p:sp>
      <p:sp>
        <p:nvSpPr>
          <p:cNvPr id="352" name="Google Shape;352;p26"/>
          <p:cNvSpPr txBox="1"/>
          <p:nvPr/>
        </p:nvSpPr>
        <p:spPr>
          <a:xfrm>
            <a:off x="5899354" y="1893745"/>
            <a:ext cx="5447071"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Challenges in implementing these strategies may include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Data Integration:</a:t>
            </a:r>
            <a:r>
              <a:rPr lang="en-US" sz="1400" b="0" i="0" u="none" strike="noStrike" cap="none">
                <a:solidFill>
                  <a:schemeClr val="dk1"/>
                </a:solidFill>
                <a:latin typeface="Arial"/>
                <a:ea typeface="Arial"/>
                <a:cs typeface="Arial"/>
                <a:sym typeface="Arial"/>
              </a:rPr>
              <a:t> Ensuring seamless integration of diverse data sources (temperature, CPI, fuel prices) into existing systems for accurate forecasting and decision-making. Resource Allocation: Allocating resources effectively to implement dynamic pricing strategies and targeted marketing campaigns based on real-time data analysis.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Operational Flexibility:</a:t>
            </a:r>
            <a:r>
              <a:rPr lang="en-US" sz="1400" b="0" i="0" u="none" strike="noStrike" cap="none">
                <a:solidFill>
                  <a:schemeClr val="dk1"/>
                </a:solidFill>
                <a:latin typeface="Arial"/>
                <a:ea typeface="Arial"/>
                <a:cs typeface="Arial"/>
                <a:sym typeface="Arial"/>
              </a:rPr>
              <a:t> Adapting supply chain and inventory management processes to respond quickly to changes in external factors, such as sudden fluctuations in fuel prices or unexpected shifts in consumer behavior.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Competitive Pressures:</a:t>
            </a:r>
            <a:r>
              <a:rPr lang="en-US" sz="1400" b="0" i="0" u="none" strike="noStrike" cap="none">
                <a:solidFill>
                  <a:schemeClr val="dk1"/>
                </a:solidFill>
                <a:latin typeface="Arial"/>
                <a:ea typeface="Arial"/>
                <a:cs typeface="Arial"/>
                <a:sym typeface="Arial"/>
              </a:rPr>
              <a:t> Navigating competitive pressures and market dynamics while adjusting pricing strategies to maintain profitability and market share. Addressing these challenges requires a combination of technological capabilities, strategic planning, and organizational agility to leverage the insights gained from external factors effectively.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7"/>
          <p:cNvSpPr txBox="1">
            <a:spLocks noGrp="1"/>
          </p:cNvSpPr>
          <p:nvPr>
            <p:ph type="title"/>
          </p:nvPr>
        </p:nvSpPr>
        <p:spPr>
          <a:xfrm>
            <a:off x="3550674" y="681037"/>
            <a:ext cx="5090652" cy="85279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accent5"/>
              </a:buClr>
              <a:buSzPts val="5200"/>
              <a:buFont typeface="EB Garamond"/>
              <a:buNone/>
            </a:pPr>
            <a:r>
              <a:rPr lang="en-US"/>
              <a:t>Conclusion</a:t>
            </a:r>
            <a:endParaRPr/>
          </a:p>
        </p:txBody>
      </p:sp>
      <p:sp>
        <p:nvSpPr>
          <p:cNvPr id="358" name="Google Shape;358;p27"/>
          <p:cNvSpPr txBox="1">
            <a:spLocks noGrp="1"/>
          </p:cNvSpPr>
          <p:nvPr>
            <p:ph type="body" idx="1"/>
          </p:nvPr>
        </p:nvSpPr>
        <p:spPr>
          <a:xfrm>
            <a:off x="838200" y="1706709"/>
            <a:ext cx="10515600" cy="3998306"/>
          </a:xfrm>
          <a:prstGeom prst="rect">
            <a:avLst/>
          </a:prstGeom>
          <a:solidFill>
            <a:schemeClr val="lt2"/>
          </a:solid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SzPts val="1280"/>
              <a:buFont typeface="Noto Sans Symbols"/>
              <a:buChar char="▪"/>
            </a:pPr>
            <a:r>
              <a:rPr lang="en-US" sz="1600">
                <a:solidFill>
                  <a:schemeClr val="dk1"/>
                </a:solidFill>
                <a:latin typeface="Arial"/>
                <a:ea typeface="Arial"/>
                <a:cs typeface="Arial"/>
                <a:sym typeface="Arial"/>
              </a:rPr>
              <a:t>This project aims to optimize store performance, forecast demand accurately, and enhance customer experience through segmentation and personalized marketing strategies.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incorporating external factors such as regional climate, consumer price index, and fuel prices into our analysis, we have gained valuable insights into the dynamics shaping consumer behavior and purchasing patterns.</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A comprehensive approach to inventory management, marketing, and store optimization, we seek to capitalize on these insights to drive sustainable growth and competitive advantage. </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Tailoring our strategies to meet the specific needs and preferences of different store and department segments, we can deliver more relevant and engaging experiences that resonate with our target audience.</a:t>
            </a:r>
            <a:endParaRPr/>
          </a:p>
          <a:p>
            <a:pPr marL="457200" lvl="0" indent="-228600" algn="l" rtl="0">
              <a:lnSpc>
                <a:spcPct val="110000"/>
              </a:lnSpc>
              <a:spcBef>
                <a:spcPts val="1000"/>
              </a:spcBef>
              <a:spcAft>
                <a:spcPts val="0"/>
              </a:spcAft>
              <a:buSzPts val="1280"/>
              <a:buFont typeface="Noto Sans Symbols"/>
              <a:buChar char="▪"/>
            </a:pPr>
            <a:r>
              <a:rPr lang="en-US" sz="1600">
                <a:solidFill>
                  <a:schemeClr val="dk1"/>
                </a:solidFill>
                <a:latin typeface="Arial"/>
                <a:ea typeface="Arial"/>
                <a:cs typeface="Arial"/>
                <a:sym typeface="Arial"/>
              </a:rPr>
              <a:t>By Leveraging data-driven techniques such as dynamic pricing and real-time inventory management, we can adapt swiftly to changing market conditions and consumer trends, ensuring optimal product availability and pricing competitiveness.</a:t>
            </a:r>
            <a:endParaRPr/>
          </a:p>
        </p:txBody>
      </p:sp>
    </p:spTree>
  </p:cSld>
  <p:clrMapOvr>
    <a:masterClrMapping/>
  </p:clrMapOvr>
</p:sld>
</file>

<file path=ppt/theme/theme1.xml><?xml version="1.0" encoding="utf-8"?>
<a:theme xmlns:a="http://schemas.openxmlformats.org/drawingml/2006/main" name="LuminousVTI">
  <a:themeElements>
    <a:clrScheme name="AnalogousFromRegularSeed_2SEEDS">
      <a:dk1>
        <a:srgbClr val="000000"/>
      </a:dk1>
      <a:lt1>
        <a:srgbClr val="FFFFFF"/>
      </a:lt1>
      <a:dk2>
        <a:srgbClr val="1B2F2E"/>
      </a:dk2>
      <a:lt2>
        <a:srgbClr val="F3F1F0"/>
      </a:lt2>
      <a:accent1>
        <a:srgbClr val="3B9EB1"/>
      </a:accent1>
      <a:accent2>
        <a:srgbClr val="46B196"/>
      </a:accent2>
      <a:accent3>
        <a:srgbClr val="4D7EC3"/>
      </a:accent3>
      <a:accent4>
        <a:srgbClr val="B13B3E"/>
      </a:accent4>
      <a:accent5>
        <a:srgbClr val="C37B4D"/>
      </a:accent5>
      <a:accent6>
        <a:srgbClr val="B19A3B"/>
      </a:accent6>
      <a:hlink>
        <a:srgbClr val="C0594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3544</Words>
  <Application>Microsoft Office PowerPoint</Application>
  <PresentationFormat>Widescreen</PresentationFormat>
  <Paragraphs>261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Avenir</vt:lpstr>
      <vt:lpstr>Noto Sans Symbols</vt:lpstr>
      <vt:lpstr>Arial</vt:lpstr>
      <vt:lpstr>EB Garamond</vt:lpstr>
      <vt:lpstr>LuminousVTI</vt:lpstr>
      <vt:lpstr>Integrated Retail Analytics for Store Optimization and Demand Forecasting (Master’s in Data Science: AI &amp; ML)</vt:lpstr>
      <vt:lpstr>Project Objective</vt:lpstr>
      <vt:lpstr>Project Components</vt:lpstr>
      <vt:lpstr>About Dataset</vt:lpstr>
      <vt:lpstr>Data Preprocessing and Feature Engineering</vt:lpstr>
      <vt:lpstr>PowerPoint Presentation</vt:lpstr>
      <vt:lpstr>Exploratory Data Analysis</vt:lpstr>
      <vt:lpstr>Exploratory Data Analysis</vt:lpstr>
      <vt:lpstr>PowerPoint Presentation</vt:lpstr>
      <vt:lpstr>PowerPoint Presentation</vt:lpstr>
      <vt:lpstr>PowerPoint Presentation</vt:lpstr>
      <vt:lpstr>Anomaly Detection in Sales Data</vt:lpstr>
      <vt:lpstr>Time-Based Anomaly Detection</vt:lpstr>
      <vt:lpstr>PowerPoint Presentation</vt:lpstr>
      <vt:lpstr>Segmentation Quality Evaluation</vt:lpstr>
      <vt:lpstr>PowerPoint Presentation</vt:lpstr>
      <vt:lpstr>Personalization Strategies </vt:lpstr>
      <vt:lpstr>Personalization Strategies for Store Segments</vt:lpstr>
      <vt:lpstr>Personalization Strategies for Department Segments</vt:lpstr>
      <vt:lpstr>Market Basket Analysis</vt:lpstr>
      <vt:lpstr>Market Basket Analysis</vt:lpstr>
      <vt:lpstr>Demand Forecasting</vt:lpstr>
      <vt:lpstr>Demand Forecasting</vt:lpstr>
      <vt:lpstr>Impact of External Factors</vt:lpstr>
      <vt:lpstr>Real-World Application and Strategy Formulation</vt:lpstr>
      <vt:lpstr>Real-World Application and Strategy Formulation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mukta barad</dc:creator>
  <cp:lastModifiedBy>akshay.lohakare1995@gmail.com</cp:lastModifiedBy>
  <cp:revision>1</cp:revision>
  <dcterms:created xsi:type="dcterms:W3CDTF">2024-08-14T03:31:56Z</dcterms:created>
  <dcterms:modified xsi:type="dcterms:W3CDTF">2026-07-28T10:06:01Z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2024-08-14T03:33:49Z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a4f9a2ec-76e8-47ff-87d7-42c27af26a9a</vt:lpwstr>
  </property>
  <property fmtid="{D5CDD505-2E9C-101B-9397-08002B2CF9AE}" pid="7" name="MSIP_Label_defa4170-0d19-0005-0004-bc88714345d2_ActionId">
    <vt:lpwstr>70315d0e-5157-4fdf-9676-366f615f247d</vt:lpwstr>
  </property>
  <property fmtid="{D5CDD505-2E9C-101B-9397-08002B2CF9AE}" pid="8" name="MSIP_Label_defa4170-0d19-0005-0004-bc88714345d2_ContentBits">
    <vt:lpwstr>0</vt:lpwstr>
  </property>
</Properties>
</file>